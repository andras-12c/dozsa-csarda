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5" r:id="rId4"/>
    <p:sldId id="258" r:id="rId5"/>
    <p:sldId id="261" r:id="rId6"/>
    <p:sldId id="259" r:id="rId7"/>
    <p:sldId id="260" r:id="rId8"/>
    <p:sldId id="262" r:id="rId9"/>
    <p:sldId id="263" r:id="rId10"/>
    <p:sldId id="267" r:id="rId11"/>
    <p:sldId id="269" r:id="rId12"/>
    <p:sldId id="264" r:id="rId13"/>
    <p:sldId id="266" r:id="rId14"/>
    <p:sldId id="268" r:id="rId15"/>
    <p:sldId id="270" r:id="rId1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BC1750-D682-258D-DE56-86E93BC16F61}" v="48" dt="2026-02-02T07:23:12.910"/>
    <p1510:client id="{BDD6FA4B-13F7-6471-AB26-A30FE67E54A7}" v="1190" dt="2026-02-02T07:19:48.737"/>
    <p1510:client id="{E3DACB38-7507-3AC1-3E67-621DDCBE376F}" v="170" dt="2026-02-02T07:09:07.0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28646 15446 16383 0 0,'0'5'0'0'0,"4"1"0"0"0,7 0 0 0 0,5 2 0 0 0,5 1 0 0 0,8-1 0 0 0,4 3 0 0 0,5-2 0 0 0,0-2 0 0 0,-1-1 0 0 0,-2-3 0 0 0,-3-1 0 0 0,-3-1 0 0 0,4-1 0 0 0,5-1 0 0 0,0 1 0 0 0,-1 0 0 0 0,2-1 0 0 0,-1 1 0 0 0,-3 0 0 0 0,-2 0 0 0 0,-3 0 0 0 0,-1 0 0 0 0,-2 0 0 0 0,5 0 0 0 0,0 0 0 0 0,0 0 0 0 0,4 0 0 0 0,4 0 0 0 0,5 0 0 0 0,-1 0 0 0 0,-3 0 0 0 0,-4 0 0 0 0,0 0 0 0 0,0 0 0 0 0,-4 0 0 0 0,4 0 0 0 0,-2 0 0 0 0,-1 0 0 0 0,-2 0 0 0 0,-2 0 0 0 0,-2 0 0 0 0,0 0 0 0 0,-2 0 0 0 0,1 0 0 0 0,-1 0 0 0 0,1 0 0 0 0,-1 0 0 0 0,1 0 0 0 0,-1 0 0 0 0,1 0 0 0 0,0 0 0 0 0,0 0 0 0 0,-1 0 0 0 0,1 0 0 0 0,0 0 0 0 0,0 0 0 0 0,0 0 0 0 0,-1 0 0 0 0,1 0 0 0 0,5 0 0 0 0,0 0 0 0 0,1 0 0 0 0,-2 0 0 0 0,0 0 0 0 0,-3 0 0 0 0,0 0 0 0 0,0 0 0 0 0,-2 0 0 0 0,1 0 0 0 0,-1 0 0 0 0,-4 0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29295 15652 16383 0 0,'-5'0'0'0'0,"-5"0"0"0"0,-7 0 0 0 0,-4 0 0 0 0,-3 0 0 0 0,-2 0 0 0 0,-1 0 0 0 0,-1 0 0 0 0,0 5 0 0 0,5 5 0 0 0,6 7 0 0 0,6 4 0 0 0,5 3 0 0 0,3 3 0 0 0,3 0 0 0 0,1 1 0 0 0,0 5 0 0 0,0 0 0 0 0,-4 1 0 0 0,-3-2 0 0 0,1 3 0 0 0,1 0 0 0 0,0-2 0 0 0,2 4 0 0 0,1-1 0 0 0,1-2 0 0 0,0-2 0 0 0,0 3 0 0 0,0 0 0 0 0,0 3 0 0 0,1-1 0 0 0,-1 4 0 0 0,0-2 0 0 0,0-3 0 0 0,0-2 0 0 0,0-3 0 0 0,0 2 0 0 0,0 1 0 0 0,0 3 0 0 0,0 0 0 0 0,0 3 0 0 0,0-1 0 0 0,0-2 0 0 0,0-4 0 0 0,0-2 0 0 0,0-2 0 0 0,0-1 0 0 0,0 3 0 0 0,0 2 0 0 0,0-1 0 0 0,0-2 0 0 0,0 0 0 0 0,0-1 0 0 0,0-2 0 0 0,0 1 0 0 0,0-2 0 0 0,0 1 0 0 0,0-1 0 0 0,0 1 0 0 0,0 0 0 0 0,0-1 0 0 0,0 1 0 0 0,0 0 0 0 0,0 0 0 0 0,0-1 0 0 0,0 6 0 0 0,0 1 0 0 0,0-1 0 0 0,0 4 0 0 0,0 0 0 0 0,0-1 0 0 0,0-3 0 0 0,0-1 0 0 0,0-2 0 0 0,0-1 0 0 0,0 3 0 0 0,0 2 0 0 0,0-1 0 0 0,0-1 0 0 0,0 3 0 0 0,0 5 0 0 0,0 1 0 0 0,0 2 0 0 0,0-1 0 0 0,0-3 0 0 0,0-5 0 0 0,0 3 0 0 0,0-1 0 0 0,0-1 0 0 0,0 1 0 0 0,0 6 0 0 0,0-1 0 0 0,0-3 0 0 0,0 3 0 0 0,0-3 0 0 0,0-1 0 0 0,0-4 0 0 0,0 8 0 0 0,0 0 0 0 0,0-1 0 0 0,0-3 0 0 0,0 2 0 0 0,0 3 0 0 0,0-1 0 0 0,0-2 0 0 0,0-4 0 0 0,0-2 0 0 0,0-3 0 0 0,0-1 0 0 0,0-1 0 0 0,0-1 0 0 0,0 0 0 0 0,0 1 0 0 0,0-1 0 0 0,0 0 0 0 0,4 1 0 0 0,7-5 0 0 0,1-1 0 0 0,-2 0 0 0 0,-2 1 0 0 0,-2 1 0 0 0,-3 2 0 0 0,-2 1 0 0 0,0 5 0 0 0,-1 2 0 0 0,-1 4 0 0 0,1 1 0 0 0,-1 2 0 0 0,1 0 0 0 0,0-3 0 0 0,-1-3 0 0 0,1-2 0 0 0,0-3 0 0 0,0-2 0 0 0,0 0 0 0 0,0 0 0 0 0,0-1 0 0 0,0 0 0 0 0,0 0 0 0 0,0 1 0 0 0,0-1 0 0 0,0 1 0 0 0,0 0 0 0 0,0 0 0 0 0,0-1 0 0 0,0 1 0 0 0,0 0 0 0 0,0 0 0 0 0,0 0 0 0 0,0-1 0 0 0,0 1 0 0 0,0 0 0 0 0,0 0 0 0 0,0 0 0 0 0,0-1 0 0 0,-4-3 0 0 0,-7-3 0 0 0,-1 1 0 0 0,2 2 0 0 0,2 0 0 0 0,3 2 0 0 0,1 0 0 0 0,7-3 0 0 0,3-1 0 0 0,0 0 0 0 0,-1 2 0 0 0,4-4 0 0 0,4-5 0 0 0,5-4 0 0 0,3-5 0 0 0,4-3 0 0 0,1-1 0 0 0,1-1 0 0 0,1-1 0 0 0,-1 0 0 0 0,0 0 0 0 0,1 0 0 0 0,-1 1 0 0 0,0 0 0 0 0,0-1 0 0 0,-5 1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6FFA99-551E-45B4-8370-7EE47DE7A2D9}" type="datetimeFigureOut">
              <a:rPr lang="hu-HU" smtClean="0"/>
              <a:t>2026. 02. 01.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F78079-BF18-4298-A5A3-7BDA287CF32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11597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F78079-BF18-4298-A5A3-7BDA287CF324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40031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2026. 02. 01.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285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2026. 02. 01.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7356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2026. 02. 01.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68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2026. 02. 01.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2987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2026. 02. 01.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402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2026. 02. 01.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4110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2026. 02. 01.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7402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2026. 02. 01.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0221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2026. 02. 01.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8113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2026. 02. 01.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4808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2026. 02. 01.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679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0193E8-478D-464D-8400-8CD4306FD776}" type="datetimeFigureOut">
              <a:rPr lang="hu-HU" smtClean="0"/>
              <a:t>2026. 02. 01.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0291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customXml" Target="../ink/ink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6.png"/><Relationship Id="rId4" Type="http://schemas.openxmlformats.org/officeDocument/2006/relationships/image" Target="../media/image21.png"/><Relationship Id="rId9" Type="http://schemas.openxmlformats.org/officeDocument/2006/relationships/customXml" Target="../ink/ink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jpe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029" y="904378"/>
            <a:ext cx="3967942" cy="3851174"/>
          </a:xfrm>
          <a:prstGeom prst="rect">
            <a:avLst/>
          </a:prstGeom>
          <a:effectLst/>
        </p:spPr>
      </p:pic>
      <p:sp>
        <p:nvSpPr>
          <p:cNvPr id="6" name="Szövegdoboz 5"/>
          <p:cNvSpPr txBox="1"/>
          <p:nvPr/>
        </p:nvSpPr>
        <p:spPr>
          <a:xfrm>
            <a:off x="2841566" y="4840780"/>
            <a:ext cx="650886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6600" b="1">
                <a:gradFill>
                  <a:gsLst>
                    <a:gs pos="0">
                      <a:schemeClr val="accent4"/>
                    </a:gs>
                    <a:gs pos="100000">
                      <a:schemeClr val="accent4">
                        <a:lumMod val="75000"/>
                      </a:schemeClr>
                    </a:gs>
                  </a:gsLst>
                  <a:lin ang="5400000" scaled="1"/>
                </a:gradFill>
                <a:effectLst>
                  <a:outerShdw sx="97000" sy="97000" algn="ctr" rotWithShape="0">
                    <a:schemeClr val="accent1">
                      <a:lumMod val="20000"/>
                      <a:lumOff val="80000"/>
                    </a:schemeClr>
                  </a:outerShdw>
                </a:effectLst>
                <a:latin typeface="Ink Free" panose="03080402000500000000" pitchFamily="66" charset="0"/>
              </a:rPr>
              <a:t>DÓZSA CSÁRDA</a:t>
            </a:r>
          </a:p>
        </p:txBody>
      </p:sp>
      <p:sp>
        <p:nvSpPr>
          <p:cNvPr id="7" name="Szövegdoboz 6"/>
          <p:cNvSpPr txBox="1"/>
          <p:nvPr/>
        </p:nvSpPr>
        <p:spPr>
          <a:xfrm>
            <a:off x="85725" y="5743575"/>
            <a:ext cx="2305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Pálosi András</a:t>
            </a: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Pongrácz Gábor</a:t>
            </a: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Farkas Bence</a:t>
            </a:r>
          </a:p>
        </p:txBody>
      </p:sp>
    </p:spTree>
    <p:extLst>
      <p:ext uri="{BB962C8B-B14F-4D97-AF65-F5344CB8AC3E}">
        <p14:creationId xmlns:p14="http://schemas.microsoft.com/office/powerpoint/2010/main" val="239125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Project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introduction</a:t>
            </a:r>
            <a:endParaRPr lang="hu-HU" sz="4400" b="1" err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6" name="Szövegdoboz 5"/>
          <p:cNvSpPr txBox="1"/>
          <p:nvPr/>
        </p:nvSpPr>
        <p:spPr>
          <a:xfrm>
            <a:off x="61727" y="1854769"/>
            <a:ext cx="6335511" cy="34163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The „Dózsa Csárda”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project’s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goal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accomplish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an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easy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and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friendly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food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delivery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system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You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can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create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unique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orders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from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5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categories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website!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Orders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are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only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accessible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upon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registration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website.</a:t>
            </a:r>
          </a:p>
        </p:txBody>
      </p:sp>
      <p:pic>
        <p:nvPicPr>
          <p:cNvPr id="8" name="Kép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99" y="1036847"/>
            <a:ext cx="3955543" cy="25268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0" name="Kép 9" descr="A képen szöveg, képernyőkép, szoftver, Weblap látható&#10;&#10;Lehet, hogy az AI által létrehozott tartalom helytelen.">
            <a:extLst>
              <a:ext uri="{FF2B5EF4-FFF2-40B4-BE49-F238E27FC236}">
                <a16:creationId xmlns:a16="http://schemas.microsoft.com/office/drawing/2014/main" id="{E8617426-2178-7AE6-7203-B5A7E6CBB8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5698" y="3864299"/>
            <a:ext cx="3955543" cy="2344912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90134746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D87ECE-E4D2-23E6-558B-6A3DB514D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69433A96-D79A-9B94-6379-81E65D5FD738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03F2EA74-67E7-C3CC-394B-8A8E37279A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B9009BCD-F285-4EF9-0E30-50543BB7676D}"/>
              </a:ext>
            </a:extLst>
          </p:cNvPr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>
                <a:ln w="6350">
                  <a:solidFill>
                    <a:srgbClr val="5B9BD5">
                      <a:lumMod val="75000"/>
                    </a:srgbClr>
                  </a:solidFill>
                </a:ln>
                <a:solidFill>
                  <a:schemeClr val="bg1"/>
                </a:solidFill>
                <a:latin typeface="Ink Free"/>
              </a:rPr>
              <a:t>Projekt Bemutatása</a:t>
            </a:r>
            <a:endParaRPr lang="hu-HU" sz="4400" b="1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C6DD4250-BC56-991D-8470-6C3D53E5C302}"/>
              </a:ext>
            </a:extLst>
          </p:cNvPr>
          <p:cNvSpPr txBox="1"/>
          <p:nvPr/>
        </p:nvSpPr>
        <p:spPr>
          <a:xfrm>
            <a:off x="594084" y="1095229"/>
            <a:ext cx="6335511" cy="4893647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>
                <a:solidFill>
                  <a:schemeClr val="accent4">
                    <a:lumMod val="75000"/>
                  </a:schemeClr>
                </a:solidFill>
                <a:latin typeface="Arial"/>
                <a:ea typeface="Calibri"/>
                <a:cs typeface="Arial"/>
              </a:rPr>
              <a:t>•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 Dózsa Csárda 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projekt célja hogy egy gyors és felhasználóbarát oldalon az élelmiszer rendelést tegye sokkal egyszerűbbé.</a:t>
            </a:r>
          </a:p>
          <a:p>
            <a:pPr algn="just"/>
            <a:endParaRPr lang="hu-HU" sz="24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Arial"/>
              <a:buChar char="•"/>
            </a:pP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Az önálló rendeléseket 5 kategóriából lehet összeállítani, mely biztosítja, hogy saját stílus szerint lehessen ebédelni. :)</a:t>
            </a:r>
          </a:p>
          <a:p>
            <a:pPr marL="342900" indent="-342900" algn="just">
              <a:buFont typeface="Arial"/>
              <a:buChar char="•"/>
            </a:pPr>
            <a:endParaRPr lang="hu-HU" sz="24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Arial"/>
              <a:buChar char="•"/>
            </a:pP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Az oldal csakis akkor használható, ha regisztrálnak az oldalra, melyhez az oldalon sok segítséget nyújtunk. Egyszerű és érthető segítségeket és hibaüzeneteket kínálunk.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8" name="Kép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99" y="1036847"/>
            <a:ext cx="3955543" cy="25268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9" name="Kép 8" descr="A képen szöveg, képernyőkép, szoftver, Weblap látható&#10;&#10;Lehet, hogy az AI által létrehozott tartalom helytelen.">
            <a:extLst>
              <a:ext uri="{FF2B5EF4-FFF2-40B4-BE49-F238E27FC236}">
                <a16:creationId xmlns:a16="http://schemas.microsoft.com/office/drawing/2014/main" id="{E8617426-2178-7AE6-7203-B5A7E6CBB8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5698" y="3864299"/>
            <a:ext cx="3955543" cy="2344912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8718060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788443" y="47687"/>
            <a:ext cx="66151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Development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environment</a:t>
            </a:r>
            <a:endParaRPr lang="hu-HU" sz="4400" b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64" y="1264346"/>
            <a:ext cx="1709738" cy="1709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2280839" y="1218892"/>
            <a:ext cx="51327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Code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(VSC)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 An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Integrated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Development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Environment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, in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server and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frontend (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html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css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javascript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)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were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created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2280839" y="4180344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(VS): 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An IDE,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create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administrative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interface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of WPF.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A4ACDEF-306B-49A4-86F8-78EF8203A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069" y="1890879"/>
            <a:ext cx="4646987" cy="338770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Picture 5" descr="Visual Studio logo and symbol, meaning, history, PNG">
            <a:extLst>
              <a:ext uri="{FF2B5EF4-FFF2-40B4-BE49-F238E27FC236}">
                <a16:creationId xmlns:a16="http://schemas.microsoft.com/office/drawing/2014/main" id="{C7CE94B2-3D26-E347-A01E-85D2E943C3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44966" y="4051377"/>
            <a:ext cx="2743200" cy="154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753272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948864" y="32084"/>
            <a:ext cx="629427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Development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environment</a:t>
            </a:r>
            <a:endParaRPr lang="hu-HU" sz="4400" b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1925354" y="1324020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HTML5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 A web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page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creation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create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framework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website.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1925354" y="3003272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CSS3: 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A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style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managment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create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interface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website.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C408D15-66A1-4A4A-851B-EADA0E36EFB9}"/>
              </a:ext>
            </a:extLst>
          </p:cNvPr>
          <p:cNvSpPr txBox="1"/>
          <p:nvPr/>
        </p:nvSpPr>
        <p:spPr>
          <a:xfrm>
            <a:off x="1925354" y="4708388"/>
            <a:ext cx="427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JavaScript: 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A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make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website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dynamic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and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manage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It’s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events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311" y="1098911"/>
            <a:ext cx="1584043" cy="1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240" y="2970021"/>
            <a:ext cx="1356187" cy="1356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defined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954" y="4675137"/>
            <a:ext cx="1530761" cy="1530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106" y="1098911"/>
            <a:ext cx="2109967" cy="5582857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6778464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Group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work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environment</a:t>
            </a:r>
            <a:endParaRPr lang="hu-HU" sz="4400" b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43" y="1026546"/>
            <a:ext cx="1761990" cy="1761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8EB6905-9258-4241-9966-9E93D7FBF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40" y="4035422"/>
            <a:ext cx="3534749" cy="1488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493033" y="1475858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GitHub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 Version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managment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web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desktrop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application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functioned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a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cloud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34D1C51D-087B-4BD8-9089-BE6663110493}"/>
              </a:ext>
            </a:extLst>
          </p:cNvPr>
          <p:cNvSpPr txBox="1"/>
          <p:nvPr/>
        </p:nvSpPr>
        <p:spPr>
          <a:xfrm>
            <a:off x="4142095" y="4450991"/>
            <a:ext cx="395518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Jira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 Project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managment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website,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where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 made it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possible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track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individual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subtasks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project.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0C82B73-4864-4368-BAF3-2042C6A647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277" y="3905842"/>
            <a:ext cx="3912351" cy="28238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6189322B-B141-438C-A937-984069E843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277" y="1090846"/>
            <a:ext cx="3912351" cy="243201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003293117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Package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managers</a:t>
            </a:r>
            <a:endParaRPr lang="hu-HU" sz="4400" b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840050" y="1585575"/>
            <a:ext cx="40819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Node.Js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 The JavaScript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package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manager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download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modules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required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Backend Server.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e.g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.: Express,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etc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…</a:t>
            </a:r>
          </a:p>
        </p:txBody>
      </p:sp>
      <p:pic>
        <p:nvPicPr>
          <p:cNvPr id="11" name="Picture 8" descr="undefined">
            <a:extLst>
              <a:ext uri="{FF2B5EF4-FFF2-40B4-BE49-F238E27FC236}">
                <a16:creationId xmlns:a16="http://schemas.microsoft.com/office/drawing/2014/main" id="{8E24AF5A-E0C2-4BBC-8625-76CB77005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12" y="4111624"/>
            <a:ext cx="3445737" cy="116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840049" y="4093733"/>
            <a:ext cx="427295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XAMPP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 A platform-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independent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database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package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manager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, in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SQL(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MariaDB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)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and PHP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My-Admin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visual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display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Apache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server.</a:t>
            </a:r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831EE051-4F6D-4828-960D-A945462CBB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292" y="4093733"/>
            <a:ext cx="3655248" cy="236193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1" y="1491070"/>
            <a:ext cx="3474288" cy="212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9373" y="1393564"/>
            <a:ext cx="4127167" cy="1942776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90332418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Programming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languages</a:t>
            </a:r>
            <a:endParaRPr lang="hu-HU" sz="4400" b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338649" y="1038903"/>
            <a:ext cx="397348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C#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Object-oriented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programming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 We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also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WPF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open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source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interface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framework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manage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database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our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project.</a:t>
            </a:r>
          </a:p>
        </p:txBody>
      </p:sp>
      <p:pic>
        <p:nvPicPr>
          <p:cNvPr id="3074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504" y="813953"/>
            <a:ext cx="2203145" cy="2203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JS Icons for Embedded JavaScript Templates">
            <a:extLst>
              <a:ext uri="{FF2B5EF4-FFF2-40B4-BE49-F238E27FC236}">
                <a16:creationId xmlns:a16="http://schemas.microsoft.com/office/drawing/2014/main" id="{9693BC18-62E7-D4E4-DBD7-09324C2BC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817" y="4214232"/>
            <a:ext cx="2378928" cy="2434684"/>
          </a:xfrm>
          <a:prstGeom prst="rect">
            <a:avLst/>
          </a:prstGeom>
        </p:spPr>
      </p:pic>
      <p:sp>
        <p:nvSpPr>
          <p:cNvPr id="7" name="Szövegdoboz 8">
            <a:extLst>
              <a:ext uri="{FF2B5EF4-FFF2-40B4-BE49-F238E27FC236}">
                <a16:creationId xmlns:a16="http://schemas.microsoft.com/office/drawing/2014/main" id="{F89258F9-3636-6D5D-B89D-8A52CFAE134B}"/>
              </a:ext>
            </a:extLst>
          </p:cNvPr>
          <p:cNvSpPr txBox="1"/>
          <p:nvPr/>
        </p:nvSpPr>
        <p:spPr>
          <a:xfrm>
            <a:off x="2812576" y="4551537"/>
            <a:ext cx="3973482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EJS(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Embedded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JavaScript)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This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is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templating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engine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Node.js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allows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embed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JavaScript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code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HTML. 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Syntax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: &lt;%= %&gt;</a:t>
            </a:r>
          </a:p>
        </p:txBody>
      </p:sp>
      <p:pic>
        <p:nvPicPr>
          <p:cNvPr id="8" name="Kép 7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358CF832-B8B9-F370-2971-AA5628D43E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5075" y="1038225"/>
            <a:ext cx="5743575" cy="23907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A képen szöveg, képernyőkép, Betűtípus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79F5F5D3-1F2B-E985-CBDF-0C77E20FA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0807" y="4087073"/>
            <a:ext cx="4120411" cy="2566923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14:cNvPr>
              <p14:cNvContentPartPr/>
              <p14:nvPr/>
            </p14:nvContentPartPr>
            <p14:xfrm>
              <a:off x="7367557" y="4781641"/>
              <a:ext cx="780385" cy="29648"/>
            </p14:xfrm>
          </p:contentPart>
        </mc:Choice>
        <mc:Fallback xmlns="">
          <p:pic>
            <p:nvPicPr>
              <p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349927" y="4763781"/>
                <a:ext cx="816004" cy="6501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14:cNvPr>
              <p14:cNvContentPartPr/>
              <p14:nvPr/>
            </p14:nvContentPartPr>
            <p14:xfrm>
              <a:off x="7492568" y="4849159"/>
              <a:ext cx="134414" cy="1757089"/>
            </p14:xfrm>
          </p:contentPart>
        </mc:Choice>
        <mc:Fallback xmlns="">
          <p:pic>
            <p:nvPicPr>
              <p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474958" y="4831163"/>
                <a:ext cx="169994" cy="179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6090025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Testing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tools</a:t>
            </a:r>
            <a:endParaRPr lang="hu-HU" sz="4400" b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349652" y="1199955"/>
            <a:ext cx="44142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Postman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A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desktop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application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allowed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test REST API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endpoints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based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CRUD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operations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95837" y="3266901"/>
            <a:ext cx="5459484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Manual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 Testing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Without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automated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tools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they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look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errors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and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deficiencies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in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system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by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taking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role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end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  <a:p>
            <a:endParaRPr lang="hu-HU" sz="2400">
              <a:solidFill>
                <a:schemeClr val="accent4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Unit Testing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 A unit test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checks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a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specific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unit of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program (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e.g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., a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function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).</a:t>
            </a:r>
            <a:endParaRPr lang="hu-HU" sz="24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4098" name="Picture 2" descr="https://upload.wikimedia.org/wikipedia/commons/c/c2/Postman_%28software%29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04" y="1497752"/>
            <a:ext cx="3209548" cy="97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REST Client | Postman API Platform [Free Download]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269" y="934115"/>
            <a:ext cx="3567658" cy="2322767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 descr="Manual Testing - Software Testing - GeeksforGeeks">
            <a:extLst>
              <a:ext uri="{FF2B5EF4-FFF2-40B4-BE49-F238E27FC236}">
                <a16:creationId xmlns:a16="http://schemas.microsoft.com/office/drawing/2014/main" id="{7376E428-8648-8B11-288B-D54EEEDAC1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9991" y="3662820"/>
            <a:ext cx="3087665" cy="246553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What Is a Unit Test? Unit Testing vs Integration Testing Explained  [Examples &amp; Best Practices]">
            <a:extLst>
              <a:ext uri="{FF2B5EF4-FFF2-40B4-BE49-F238E27FC236}">
                <a16:creationId xmlns:a16="http://schemas.microsoft.com/office/drawing/2014/main" id="{2227B26F-DDD3-9920-059E-6063EA48D8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5880" y="3659660"/>
            <a:ext cx="3014596" cy="247185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806295488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BB689D-C470-AD9C-B531-2B23CF07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96E0EFC6-7CF8-B4E5-1539-F073723D45A7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58C21B68-41C5-5DAF-1E0A-61F0857959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421AC52-0274-87B5-3810-4C893129849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Testing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results</a:t>
            </a:r>
            <a:endParaRPr lang="hu-HU" sz="4400" b="1" dirty="0" err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906963F0-9C25-C0CC-904F-0A059C079119}"/>
              </a:ext>
            </a:extLst>
          </p:cNvPr>
          <p:cNvSpPr txBox="1"/>
          <p:nvPr/>
        </p:nvSpPr>
        <p:spPr>
          <a:xfrm>
            <a:off x="510659" y="970463"/>
            <a:ext cx="11492853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Cannot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connect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Database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If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Server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cannot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connect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database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some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reason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example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lack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XAMPP,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some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kind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issue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will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handle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and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won't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crash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!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8" name="Kép 7" descr="A képen szöveg, képernyőkép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92F4D1D-5793-A3EB-E4DF-133338F31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99" y="3145727"/>
            <a:ext cx="7870521" cy="2069670"/>
          </a:xfrm>
          <a:prstGeom prst="rect">
            <a:avLst/>
          </a:prstGeom>
          <a:ln w="5715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BB13FA43-C07D-5FA3-AD73-9B656B3AB0F9}"/>
              </a:ext>
            </a:extLst>
          </p:cNvPr>
          <p:cNvSpPr txBox="1"/>
          <p:nvPr/>
        </p:nvSpPr>
        <p:spPr>
          <a:xfrm>
            <a:off x="510658" y="2504901"/>
            <a:ext cx="297515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Handling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0440CDCE-F4C1-0D36-F02B-03CA282DF090}"/>
              </a:ext>
            </a:extLst>
          </p:cNvPr>
          <p:cNvSpPr txBox="1"/>
          <p:nvPr/>
        </p:nvSpPr>
        <p:spPr>
          <a:xfrm>
            <a:off x="8287232" y="2504901"/>
            <a:ext cx="297515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Error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4" name="Kép 13" descr="A képen szöveg, képernyőkép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1F661FF4-08C9-680E-6B37-90EB790FBE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4076" y="3146251"/>
            <a:ext cx="3797083" cy="3039389"/>
          </a:xfrm>
          <a:prstGeom prst="rect">
            <a:avLst/>
          </a:prstGeom>
          <a:ln w="5715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110081679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260738-60DB-E084-C3AF-8B50F7A6E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F5D1995-DD41-9F29-4973-967989C204D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8645F653-C7CA-03D5-9376-8D8A02073B7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DD5E631A-C885-3C5B-3398-D7D6B6553D3A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Testing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results</a:t>
            </a:r>
            <a:endParaRPr lang="hu-HU" sz="4400" b="1" dirty="0" err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EF6A9E11-F589-DFDD-582C-EFCEE8D8F4BA}"/>
              </a:ext>
            </a:extLst>
          </p:cNvPr>
          <p:cNvSpPr txBox="1"/>
          <p:nvPr/>
        </p:nvSpPr>
        <p:spPr>
          <a:xfrm>
            <a:off x="510659" y="970463"/>
            <a:ext cx="11492853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Correct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start: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If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everything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is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fine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will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run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/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work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properly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means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you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can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surf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around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website.</a:t>
            </a:r>
            <a:endParaRPr lang="hu-HU" sz="2400" dirty="0" err="1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DE88030-41A8-67C0-0580-7E1E07209B0F}"/>
              </a:ext>
            </a:extLst>
          </p:cNvPr>
          <p:cNvSpPr txBox="1"/>
          <p:nvPr/>
        </p:nvSpPr>
        <p:spPr>
          <a:xfrm>
            <a:off x="5761151" y="2170872"/>
            <a:ext cx="2975155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Response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E5F6A9AA-36ED-FFD6-2369-FE69C73D9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0706" y="2634901"/>
            <a:ext cx="5857875" cy="1943100"/>
          </a:xfrm>
          <a:prstGeom prst="rect">
            <a:avLst/>
          </a:prstGeom>
          <a:ln w="5715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9CC0B129-F609-48E1-124B-97580742C7F7}"/>
              </a:ext>
            </a:extLst>
          </p:cNvPr>
          <p:cNvSpPr txBox="1"/>
          <p:nvPr/>
        </p:nvSpPr>
        <p:spPr>
          <a:xfrm>
            <a:off x="510658" y="2170872"/>
            <a:ext cx="3079538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Response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9" name="Kép 8" descr="A képen szöveg, képernyőkép, szám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898A8500-5FCF-37D7-58F5-2E0E2961ED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95" y="2630466"/>
            <a:ext cx="3320821" cy="4133590"/>
          </a:xfrm>
          <a:prstGeom prst="rect">
            <a:avLst/>
          </a:prstGeom>
          <a:ln w="5715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80969407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DB6896-9C86-E033-83AD-4B860B987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007ACB0-9DFC-3C76-677B-CAF756D78C21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9F652C10-436A-29B6-EAA9-84B9D8C8B2E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78974782-F688-A087-3D1A-5696A980248B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Database</a:t>
            </a:r>
            <a:endParaRPr lang="hu-HU" err="1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F96606AA-2655-F94D-8364-E6DA6CBC88FE}"/>
              </a:ext>
            </a:extLst>
          </p:cNvPr>
          <p:cNvSpPr txBox="1"/>
          <p:nvPr/>
        </p:nvSpPr>
        <p:spPr>
          <a:xfrm>
            <a:off x="145077" y="1074695"/>
            <a:ext cx="4414210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Database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Contains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7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Table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identify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, and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all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food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you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can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order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</a:t>
            </a:r>
            <a:endParaRPr lang="hu-HU" sz="2400" err="1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6FD6C13-9A9A-BD9C-3E55-6ECB0989A4DD}"/>
              </a:ext>
            </a:extLst>
          </p:cNvPr>
          <p:cNvSpPr txBox="1"/>
          <p:nvPr/>
        </p:nvSpPr>
        <p:spPr>
          <a:xfrm>
            <a:off x="6096000" y="994990"/>
            <a:ext cx="4414210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The backend server is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responsible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running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full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REST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APIs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and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handling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CRUD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operations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diagram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8A6B2A25-7D71-68B9-EA12-77BBAF95B9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910" y="3073648"/>
            <a:ext cx="5218254" cy="283272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 descr="A képen szöveg, képernyőkép, Betűtípu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4A701754-C1F0-F385-42AD-D5B26635D9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181" y="2740490"/>
            <a:ext cx="2114550" cy="384810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5" name="Kép 14" descr="A képen szöveg, képernyőkép,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BD4B2331-28BE-C2FD-8F4F-D51698EE1F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4936" y="2743743"/>
            <a:ext cx="2812649" cy="369087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8" name="Szorzás 7"/>
          <p:cNvSpPr/>
          <p:nvPr/>
        </p:nvSpPr>
        <p:spPr>
          <a:xfrm>
            <a:off x="6386146" y="3866075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0" name="Szorzás 19"/>
          <p:cNvSpPr/>
          <p:nvPr/>
        </p:nvSpPr>
        <p:spPr>
          <a:xfrm>
            <a:off x="6386145" y="5172396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0681232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602F10-0DC1-3E5F-F52D-16FECE04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CDA9ECE-E271-503A-3360-804E31DE9DA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63F0A4FD-A05E-5459-F237-97F9731C83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138FA34-531D-C2E6-52E0-C9A50FC7A159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Registration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/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Sign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Up</a:t>
            </a:r>
            <a:endParaRPr lang="hu-HU" err="1">
              <a:solidFill>
                <a:schemeClr val="bg1"/>
              </a:solidFill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FDE57ED1-8F77-F711-56F7-1DAEF217997F}"/>
              </a:ext>
            </a:extLst>
          </p:cNvPr>
          <p:cNvSpPr txBox="1"/>
          <p:nvPr/>
        </p:nvSpPr>
        <p:spPr>
          <a:xfrm>
            <a:off x="249460" y="1158202"/>
            <a:ext cx="441421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Friendly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interface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endParaRPr lang="hu-HU" sz="2400" b="1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11509D52-8049-F190-A4AF-BFDCABBF1920}"/>
              </a:ext>
            </a:extLst>
          </p:cNvPr>
          <p:cNvSpPr txBox="1"/>
          <p:nvPr/>
        </p:nvSpPr>
        <p:spPr>
          <a:xfrm>
            <a:off x="7096125" y="1191290"/>
            <a:ext cx="4414210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Error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messages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gives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obvious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warnings</a:t>
            </a:r>
          </a:p>
          <a:p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 </a:t>
            </a:r>
          </a:p>
        </p:txBody>
      </p:sp>
      <p:pic>
        <p:nvPicPr>
          <p:cNvPr id="7" name="Kép 6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9A47296C-D019-C6F0-A556-7DA684B39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125" y="3956000"/>
            <a:ext cx="4343400" cy="247650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8AFDF6FF-8743-E0FB-C6A4-5BCA11C6AD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6125" y="3204258"/>
            <a:ext cx="4972050" cy="447675"/>
          </a:xfrm>
          <a:prstGeom prst="rect">
            <a:avLst/>
          </a:prstGeom>
        </p:spPr>
      </p:pic>
      <p:pic>
        <p:nvPicPr>
          <p:cNvPr id="9" name="Kép 8" descr="A képen szöveg, Betűtípus, Grafika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B9CA0087-3983-FFA5-A0D1-ADA6550989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6125" y="2417335"/>
            <a:ext cx="3524250" cy="571500"/>
          </a:xfrm>
          <a:prstGeom prst="rect">
            <a:avLst/>
          </a:prstGeom>
        </p:spPr>
      </p:pic>
      <p:pic>
        <p:nvPicPr>
          <p:cNvPr id="10" name="Kép 9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9916CC0D-5D4A-FD74-1255-157D92D3E4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7816" y="2145876"/>
            <a:ext cx="3667125" cy="329565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027" y="2146969"/>
            <a:ext cx="2801383" cy="3621651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24213369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F1EAEA51-9E58-B96C-A7A4-3FD8CB226D4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interface</a:t>
            </a:r>
            <a:endParaRPr lang="hu-HU" sz="4400" b="1" err="1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16ABDD9-8195-8FD4-F8B5-477403D0D58E}"/>
              </a:ext>
            </a:extLst>
          </p:cNvPr>
          <p:cNvSpPr txBox="1"/>
          <p:nvPr/>
        </p:nvSpPr>
        <p:spPr>
          <a:xfrm>
            <a:off x="269440" y="1128660"/>
            <a:ext cx="4414210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hu-HU" sz="24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 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WPF-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based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admin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interface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designed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manage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user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account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verification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.</a:t>
            </a:r>
            <a:endParaRPr lang="hu-HU">
              <a:solidFill>
                <a:schemeClr val="accent4">
                  <a:lumMod val="75000"/>
                </a:schemeClr>
              </a:solidFill>
            </a:endParaRPr>
          </a:p>
          <a:p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 </a:t>
            </a:r>
          </a:p>
        </p:txBody>
      </p:sp>
      <p:pic>
        <p:nvPicPr>
          <p:cNvPr id="12" name="Kép 11" descr="A képen elektronika, szöveg, képernyőkép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BB77BCA7-E97E-2223-8EA8-CBAA8A87D7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225" y="3588773"/>
            <a:ext cx="4807385" cy="2613634"/>
          </a:xfrm>
          <a:prstGeom prst="rect">
            <a:avLst/>
          </a:prstGeom>
        </p:spPr>
      </p:pic>
      <p:sp>
        <p:nvSpPr>
          <p:cNvPr id="15" name="Szövegdoboz 14">
            <a:extLst>
              <a:ext uri="{FF2B5EF4-FFF2-40B4-BE49-F238E27FC236}">
                <a16:creationId xmlns:a16="http://schemas.microsoft.com/office/drawing/2014/main" id="{4D9A4788-3FB0-18D9-A064-521D39E3B8E6}"/>
              </a:ext>
            </a:extLst>
          </p:cNvPr>
          <p:cNvSpPr txBox="1"/>
          <p:nvPr/>
        </p:nvSpPr>
        <p:spPr>
          <a:xfrm>
            <a:off x="6208863" y="3894823"/>
            <a:ext cx="4414210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hu-HU" sz="24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The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application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is 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accessible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only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to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administrators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and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allows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them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review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user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details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and 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approve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account 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confirmations</a:t>
            </a:r>
            <a:endParaRPr lang="hu-HU" err="1">
              <a:solidFill>
                <a:schemeClr val="accent4">
                  <a:lumMod val="75000"/>
                </a:schemeClr>
              </a:solidFill>
            </a:endParaRPr>
          </a:p>
          <a:p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 </a:t>
            </a:r>
          </a:p>
        </p:txBody>
      </p:sp>
      <p:pic>
        <p:nvPicPr>
          <p:cNvPr id="17" name="Kép 16">
            <a:extLst>
              <a:ext uri="{FF2B5EF4-FFF2-40B4-BE49-F238E27FC236}">
                <a16:creationId xmlns:a16="http://schemas.microsoft.com/office/drawing/2014/main" id="{230D0B4F-8EB3-F3F2-A4E6-68552F239C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0125" y="1211893"/>
            <a:ext cx="5436818" cy="1970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412178"/>
      </p:ext>
    </p:extLst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5D026-9E56-B07A-C85D-F09B4336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B512E7B-64B3-2595-EF4A-5C58617ADC8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C1292C17-C40A-A2B1-1E3A-EEC7F9468CB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3971306-AD1D-785D-6151-E10F3A64FEC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Backend Server</a:t>
            </a:r>
            <a:endParaRPr lang="hu-HU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731C7EAB-693F-D4B6-857C-99170E34439F}"/>
              </a:ext>
            </a:extLst>
          </p:cNvPr>
          <p:cNvSpPr txBox="1"/>
          <p:nvPr/>
        </p:nvSpPr>
        <p:spPr>
          <a:xfrm>
            <a:off x="269440" y="1128660"/>
            <a:ext cx="5332785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hu-HU" sz="24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The 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Backend Server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is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based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CRUD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(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, Read ,Update, Delete)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 </a:t>
            </a:r>
          </a:p>
        </p:txBody>
      </p:sp>
      <p:pic>
        <p:nvPicPr>
          <p:cNvPr id="5" name="Kép 4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92E00D7B-F8EB-2B12-3346-D970F151A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786" y="1714435"/>
            <a:ext cx="6658757" cy="1153568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EDBC3264-7440-6C6C-F96F-8A22EE831E9F}"/>
              </a:ext>
            </a:extLst>
          </p:cNvPr>
          <p:cNvSpPr txBox="1"/>
          <p:nvPr/>
        </p:nvSpPr>
        <p:spPr>
          <a:xfrm>
            <a:off x="7765316" y="1252296"/>
            <a:ext cx="220271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Early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Access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9" name="Kép 8" descr="A képen szöveg, képernyőkép, Betűtípus, zöld látható&#10;&#10;Lehet, hogy az AI által létrehozott tartalom helytelen.">
            <a:extLst>
              <a:ext uri="{FF2B5EF4-FFF2-40B4-BE49-F238E27FC236}">
                <a16:creationId xmlns:a16="http://schemas.microsoft.com/office/drawing/2014/main" id="{73CB2955-B2BC-77B6-E0ED-27590DE5B4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0220" y="4116758"/>
            <a:ext cx="4181475" cy="628650"/>
          </a:xfrm>
          <a:prstGeom prst="rect">
            <a:avLst/>
          </a:prstGeom>
        </p:spPr>
      </p:pic>
      <p:pic>
        <p:nvPicPr>
          <p:cNvPr id="10" name="Kép 9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07F937F7-A26D-8CF5-C332-931003F22B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777" y="5163203"/>
            <a:ext cx="7172325" cy="866775"/>
          </a:xfrm>
          <a:prstGeom prst="rect">
            <a:avLst/>
          </a:prstGeom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AF98DE5A-F766-854E-70F6-9B3E638E5978}"/>
              </a:ext>
            </a:extLst>
          </p:cNvPr>
          <p:cNvSpPr txBox="1"/>
          <p:nvPr/>
        </p:nvSpPr>
        <p:spPr>
          <a:xfrm>
            <a:off x="144179" y="4625509"/>
            <a:ext cx="352695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Successful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Order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(Post) </a:t>
            </a:r>
          </a:p>
        </p:txBody>
      </p:sp>
    </p:spTree>
    <p:extLst>
      <p:ext uri="{BB962C8B-B14F-4D97-AF65-F5344CB8AC3E}">
        <p14:creationId xmlns:p14="http://schemas.microsoft.com/office/powerpoint/2010/main" val="340467667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60000"/>
            <a:lumOff val="4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472</Words>
  <Application>Microsoft Office PowerPoint</Application>
  <PresentationFormat>Szélesvásznú</PresentationFormat>
  <Paragraphs>46</Paragraphs>
  <Slides>15</Slides>
  <Notes>1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16" baseType="lpstr"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Geforce</dc:creator>
  <cp:lastModifiedBy>Geforce</cp:lastModifiedBy>
  <cp:revision>543</cp:revision>
  <dcterms:created xsi:type="dcterms:W3CDTF">2026-01-18T17:12:36Z</dcterms:created>
  <dcterms:modified xsi:type="dcterms:W3CDTF">2026-02-02T07:24:19Z</dcterms:modified>
</cp:coreProperties>
</file>