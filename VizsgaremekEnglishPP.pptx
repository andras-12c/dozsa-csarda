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58" r:id="rId5"/>
    <p:sldId id="261" r:id="rId6"/>
    <p:sldId id="259" r:id="rId7"/>
    <p:sldId id="260" r:id="rId8"/>
    <p:sldId id="262" r:id="rId9"/>
    <p:sldId id="263" r:id="rId10"/>
    <p:sldId id="264" r:id="rId11"/>
    <p:sldId id="266" r:id="rId1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41C04C-4CD6-07C3-E640-AB15B8AACB15}" v="6" dt="2026-01-26T07:21:36.405"/>
    <p1510:client id="{42BB46A4-5071-6DDB-F90A-8B20089C4A82}" v="249" dt="2026-01-25T08:42:00.843"/>
    <p1510:client id="{9DC091CE-4325-A334-FA40-21B98A870A4E}" v="206" dt="2026-01-26T07:24:55.478"/>
    <p1510:client id="{CEA1F033-0C7D-A28A-DF69-254DF26BEE3A}" v="1602" dt="2026-01-26T07:24:57.9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2852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97356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9682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82987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9402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41102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7402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0221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88113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4808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146791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0193E8-478D-464D-8400-8CD4306FD776}" type="datetimeFigureOut">
              <a:rPr lang="hu-HU" smtClean="0"/>
              <a:t>2026. 01. 25.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0291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2029" y="904378"/>
            <a:ext cx="3967942" cy="3851174"/>
          </a:xfrm>
          <a:prstGeom prst="rect">
            <a:avLst/>
          </a:prstGeom>
          <a:effectLst/>
        </p:spPr>
      </p:pic>
      <p:sp>
        <p:nvSpPr>
          <p:cNvPr id="6" name="Szövegdoboz 5"/>
          <p:cNvSpPr txBox="1"/>
          <p:nvPr/>
        </p:nvSpPr>
        <p:spPr>
          <a:xfrm>
            <a:off x="2841566" y="4840780"/>
            <a:ext cx="650886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6600" b="1" dirty="0">
                <a:gradFill>
                  <a:gsLst>
                    <a:gs pos="0">
                      <a:schemeClr val="accent4"/>
                    </a:gs>
                    <a:gs pos="100000">
                      <a:schemeClr val="accent4">
                        <a:lumMod val="75000"/>
                      </a:schemeClr>
                    </a:gs>
                  </a:gsLst>
                  <a:lin ang="5400000" scaled="1"/>
                </a:gradFill>
                <a:effectLst>
                  <a:outerShdw sx="97000" sy="97000" algn="ctr" rotWithShape="0">
                    <a:schemeClr val="accent1">
                      <a:lumMod val="20000"/>
                      <a:lumOff val="80000"/>
                    </a:schemeClr>
                  </a:outerShdw>
                </a:effectLst>
                <a:latin typeface="Ink Free" panose="03080402000500000000" pitchFamily="66" charset="0"/>
              </a:rPr>
              <a:t>DÓZSA CSÁRDA</a:t>
            </a:r>
          </a:p>
        </p:txBody>
      </p:sp>
      <p:sp>
        <p:nvSpPr>
          <p:cNvPr id="7" name="Szövegdoboz 6"/>
          <p:cNvSpPr txBox="1"/>
          <p:nvPr/>
        </p:nvSpPr>
        <p:spPr>
          <a:xfrm>
            <a:off x="85725" y="5743575"/>
            <a:ext cx="2305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accent4">
                    <a:lumMod val="75000"/>
                  </a:schemeClr>
                </a:solidFill>
              </a:rPr>
              <a:t>Pálosi András</a:t>
            </a:r>
          </a:p>
          <a:p>
            <a:r>
              <a:rPr lang="hu-HU" dirty="0">
                <a:solidFill>
                  <a:schemeClr val="accent4">
                    <a:lumMod val="75000"/>
                  </a:schemeClr>
                </a:solidFill>
              </a:rPr>
              <a:t>Pongrácz Gábor</a:t>
            </a:r>
          </a:p>
          <a:p>
            <a:r>
              <a:rPr lang="hu-HU" dirty="0">
                <a:solidFill>
                  <a:schemeClr val="accent4">
                    <a:lumMod val="75000"/>
                  </a:schemeClr>
                </a:solidFill>
              </a:rPr>
              <a:t>Farkas Bence</a:t>
            </a:r>
          </a:p>
        </p:txBody>
      </p:sp>
    </p:spTree>
    <p:extLst>
      <p:ext uri="{BB962C8B-B14F-4D97-AF65-F5344CB8AC3E}">
        <p14:creationId xmlns:p14="http://schemas.microsoft.com/office/powerpoint/2010/main" val="2391259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Project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introduction</a:t>
            </a:r>
            <a:endParaRPr lang="hu-HU" sz="4400" b="1" dirty="0" err="1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6" name="Szövegdoboz 5"/>
          <p:cNvSpPr txBox="1"/>
          <p:nvPr/>
        </p:nvSpPr>
        <p:spPr>
          <a:xfrm>
            <a:off x="61727" y="1854769"/>
            <a:ext cx="6335511" cy="34163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The „Dózsa Csárda”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project’s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goal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accomplish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an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easy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and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friendly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food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delivery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system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You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can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create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unique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orders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from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5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categories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website!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Orders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are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only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accessible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upon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registration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website.</a:t>
            </a:r>
          </a:p>
        </p:txBody>
      </p:sp>
      <p:pic>
        <p:nvPicPr>
          <p:cNvPr id="7" name="Kép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699" y="993894"/>
            <a:ext cx="3947800" cy="2473552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8" name="Kép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5699" y="3781386"/>
            <a:ext cx="3947800" cy="263888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90134746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D87ECE-E4D2-23E6-558B-6A3DB514D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69433A96-D79A-9B94-6379-81E65D5FD738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03F2EA74-67E7-C3CC-394B-8A8E37279A4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B9009BCD-F285-4EF9-0E30-50543BB7676D}"/>
              </a:ext>
            </a:extLst>
          </p:cNvPr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rgbClr val="5B9BD5">
                      <a:lumMod val="75000"/>
                    </a:srgbClr>
                  </a:solidFill>
                </a:ln>
                <a:solidFill>
                  <a:schemeClr val="bg1"/>
                </a:solidFill>
                <a:latin typeface="Ink Free"/>
              </a:rPr>
              <a:t>Projekt Bemutatása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C6DD4250-BC56-991D-8470-6C3D53E5C302}"/>
              </a:ext>
            </a:extLst>
          </p:cNvPr>
          <p:cNvSpPr txBox="1"/>
          <p:nvPr/>
        </p:nvSpPr>
        <p:spPr>
          <a:xfrm>
            <a:off x="594084" y="1095229"/>
            <a:ext cx="6335511" cy="4893647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  <a:latin typeface="Arial"/>
                <a:ea typeface="Calibri"/>
                <a:cs typeface="Arial"/>
              </a:rPr>
              <a:t>•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 Dózsa Csárda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projekt célja hogy egy gyors és felhasználóbarát oldalon az élelmiszer rendelést tegye sokkal egyszerűbbé.</a:t>
            </a:r>
          </a:p>
          <a:p>
            <a:pPr algn="just"/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 algn="just">
              <a:buFont typeface="Arial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Az önálló rendeléseket 5 kategóriából lehet összeállítani, mely biztosítja, hogy saját stílus szerint lehessen ebédelni. :)</a:t>
            </a:r>
          </a:p>
          <a:p>
            <a:pPr marL="342900" indent="-342900" algn="just">
              <a:buFont typeface="Arial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 algn="just">
              <a:buFont typeface="Arial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Az oldal csakis akkor használható, ha regisztrálnak az oldalra, melyhez az oldalon sok segítséget nyújtunk. Egyszerű és érthető segítségeket és hibaüzeneteket kínálunk.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95FBB1C7-6965-B4EE-9352-D94F17CD1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699" y="993894"/>
            <a:ext cx="3947800" cy="2473552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17C6BF0A-0D42-2E63-7CE8-9A31EE876B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5699" y="3781386"/>
            <a:ext cx="3947800" cy="263888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68718060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788443" y="47687"/>
            <a:ext cx="66151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Development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environment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964" y="1264346"/>
            <a:ext cx="1709738" cy="1709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2280839" y="1218892"/>
            <a:ext cx="51327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Code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(VSC)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An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Integrated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Development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Environment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in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which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server and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frontend 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html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css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javascript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)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were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created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2280839" y="4180344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(VS):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An IDE,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which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create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administrative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interface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of WPF.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7A4ACDEF-306B-49A4-86F8-78EF8203A3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7069" y="1890879"/>
            <a:ext cx="4646987" cy="3387704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Picture 5" descr="Visual Studio logo and symbol, meaning, history, PNG">
            <a:extLst>
              <a:ext uri="{FF2B5EF4-FFF2-40B4-BE49-F238E27FC236}">
                <a16:creationId xmlns:a16="http://schemas.microsoft.com/office/drawing/2014/main" id="{C7CE94B2-3D26-E347-A01E-85D2E943C3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44966" y="4051377"/>
            <a:ext cx="2743200" cy="1543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753272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948864" y="32084"/>
            <a:ext cx="629427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Development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environment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1925354" y="1324020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HTML5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web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creation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language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which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create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framework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of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website.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1925354" y="3003272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CSS3: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style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managment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language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create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interface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of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website.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C408D15-66A1-4A4A-851B-EADA0E36EFB9}"/>
              </a:ext>
            </a:extLst>
          </p:cNvPr>
          <p:cNvSpPr txBox="1"/>
          <p:nvPr/>
        </p:nvSpPr>
        <p:spPr>
          <a:xfrm>
            <a:off x="1925354" y="4708388"/>
            <a:ext cx="42729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JavaScript: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language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make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dynamic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and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manage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It’s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events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311" y="1098911"/>
            <a:ext cx="1584043" cy="1584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240" y="2970021"/>
            <a:ext cx="1356187" cy="1356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defined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954" y="4675137"/>
            <a:ext cx="1530761" cy="1530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106" y="1098911"/>
            <a:ext cx="2109967" cy="5582857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6778464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Group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work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environment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E6A87C9D-5229-4363-95A2-B453ADD8C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043" y="1026546"/>
            <a:ext cx="1761990" cy="1761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8EB6905-9258-4241-9966-9E93D7FBF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40" y="4035422"/>
            <a:ext cx="3534749" cy="1488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493033" y="1475858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GitHub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Version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managment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desktrop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application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functioned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cloud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34D1C51D-087B-4BD8-9089-BE6663110493}"/>
              </a:ext>
            </a:extLst>
          </p:cNvPr>
          <p:cNvSpPr txBox="1"/>
          <p:nvPr/>
        </p:nvSpPr>
        <p:spPr>
          <a:xfrm>
            <a:off x="4142095" y="4450991"/>
            <a:ext cx="395518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Jira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Project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managment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where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 made it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possible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track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individual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subtasks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of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project.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F0C82B73-4864-4368-BAF3-2042C6A647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7277" y="3905842"/>
            <a:ext cx="3912351" cy="28238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6189322B-B141-438C-A937-984069E843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277" y="1090846"/>
            <a:ext cx="3912351" cy="243201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003293117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Package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managers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840050" y="1585575"/>
            <a:ext cx="40819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Node.Js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The JavaScript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package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manager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which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download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modules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required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Backend Server.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e.g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.: Express,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etc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…</a:t>
            </a:r>
          </a:p>
        </p:txBody>
      </p:sp>
      <p:pic>
        <p:nvPicPr>
          <p:cNvPr id="11" name="Picture 8" descr="undefined">
            <a:extLst>
              <a:ext uri="{FF2B5EF4-FFF2-40B4-BE49-F238E27FC236}">
                <a16:creationId xmlns:a16="http://schemas.microsoft.com/office/drawing/2014/main" id="{8E24AF5A-E0C2-4BBC-8625-76CB77005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12" y="4111624"/>
            <a:ext cx="3445737" cy="116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840049" y="4093733"/>
            <a:ext cx="427295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XAMPP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platform-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independent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database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package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manager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in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which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SQL(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MariaDB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)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language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and PHP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My-Admin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visual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display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Apache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server.</a:t>
            </a:r>
          </a:p>
        </p:txBody>
      </p:sp>
      <p:pic>
        <p:nvPicPr>
          <p:cNvPr id="13" name="Kép 12">
            <a:extLst>
              <a:ext uri="{FF2B5EF4-FFF2-40B4-BE49-F238E27FC236}">
                <a16:creationId xmlns:a16="http://schemas.microsoft.com/office/drawing/2014/main" id="{831EE051-4F6D-4828-960D-A945462CBB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1292" y="4093733"/>
            <a:ext cx="3655248" cy="236193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2050" name="Picture 2" descr="undefined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1" y="1491070"/>
            <a:ext cx="3474288" cy="212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9373" y="1393564"/>
            <a:ext cx="4127167" cy="1942776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90332418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Programming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languages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338649" y="1038903"/>
            <a:ext cx="397348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C#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Object-oriented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programming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language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 We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also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WPF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open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source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interface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framework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manage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database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of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our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project.</a:t>
            </a:r>
          </a:p>
        </p:txBody>
      </p:sp>
      <p:pic>
        <p:nvPicPr>
          <p:cNvPr id="3074" name="Picture 2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504" y="813953"/>
            <a:ext cx="2203145" cy="2203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JS Icons for Embedded JavaScript Templates">
            <a:extLst>
              <a:ext uri="{FF2B5EF4-FFF2-40B4-BE49-F238E27FC236}">
                <a16:creationId xmlns:a16="http://schemas.microsoft.com/office/drawing/2014/main" id="{9693BC18-62E7-D4E4-DBD7-09324C2BC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817" y="4214232"/>
            <a:ext cx="2378928" cy="2434684"/>
          </a:xfrm>
          <a:prstGeom prst="rect">
            <a:avLst/>
          </a:prstGeom>
        </p:spPr>
      </p:pic>
      <p:sp>
        <p:nvSpPr>
          <p:cNvPr id="7" name="Szövegdoboz 8">
            <a:extLst>
              <a:ext uri="{FF2B5EF4-FFF2-40B4-BE49-F238E27FC236}">
                <a16:creationId xmlns:a16="http://schemas.microsoft.com/office/drawing/2014/main" id="{F89258F9-3636-6D5D-B89D-8A52CFAE134B}"/>
              </a:ext>
            </a:extLst>
          </p:cNvPr>
          <p:cNvSpPr txBox="1"/>
          <p:nvPr/>
        </p:nvSpPr>
        <p:spPr>
          <a:xfrm>
            <a:off x="2812576" y="4551537"/>
            <a:ext cx="3973482" cy="230832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EJS(</a:t>
            </a:r>
            <a:r>
              <a:rPr lang="hu-HU" sz="2400" b="1" err="1">
                <a:solidFill>
                  <a:schemeClr val="accent4">
                    <a:lumMod val="75000"/>
                  </a:schemeClr>
                </a:solidFill>
              </a:rPr>
              <a:t>Embedded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JavaScript)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This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is a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templating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engine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Node.js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allows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embed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JavaScript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code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into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HTML. </a:t>
            </a:r>
            <a:endParaRPr lang="hu-HU" sz="240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Syntax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: &lt;%= %&gt;</a:t>
            </a:r>
          </a:p>
        </p:txBody>
      </p:sp>
    </p:spTree>
    <p:extLst>
      <p:ext uri="{BB962C8B-B14F-4D97-AF65-F5344CB8AC3E}">
        <p14:creationId xmlns:p14="http://schemas.microsoft.com/office/powerpoint/2010/main" val="2836090025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Testing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tools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349652" y="1199955"/>
            <a:ext cx="44142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Postman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desktop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application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allowed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test REST API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endpoints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based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CRUD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operations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95837" y="3266901"/>
            <a:ext cx="5459484" cy="304698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Manual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Testing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Without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automated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tools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they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look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errors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and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deficiencies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in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system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by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taking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role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of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end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  <a:p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Unit 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Testing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unit test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checks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specific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unit of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program 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e.g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.,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function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).</a:t>
            </a:r>
            <a:endParaRPr lang="hu-HU" sz="240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4098" name="Picture 2" descr="https://upload.wikimedia.org/wikipedia/commons/c/c2/Postman_%28software%29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104" y="1497752"/>
            <a:ext cx="3209548" cy="97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REST Client | Postman API Platform [Free Download]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4269" y="934115"/>
            <a:ext cx="3567658" cy="2322767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 descr="Manual Testing - Software Testing - GeeksforGeeks">
            <a:extLst>
              <a:ext uri="{FF2B5EF4-FFF2-40B4-BE49-F238E27FC236}">
                <a16:creationId xmlns:a16="http://schemas.microsoft.com/office/drawing/2014/main" id="{7376E428-8648-8B11-288B-D54EEEDAC1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9991" y="3662820"/>
            <a:ext cx="3087665" cy="2465538"/>
          </a:xfrm>
          <a:prstGeom prst="rect">
            <a:avLst/>
          </a:prstGeom>
          <a:ln w="5715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Kép 5" descr="What Is a Unit Test? Unit Testing vs Integration Testing Explained  [Examples &amp; Best Practices]">
            <a:extLst>
              <a:ext uri="{FF2B5EF4-FFF2-40B4-BE49-F238E27FC236}">
                <a16:creationId xmlns:a16="http://schemas.microsoft.com/office/drawing/2014/main" id="{2227B26F-DDD3-9920-059E-6063EA48D8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5880" y="3659660"/>
            <a:ext cx="3014596" cy="2471858"/>
          </a:xfrm>
          <a:prstGeom prst="rect">
            <a:avLst/>
          </a:prstGeom>
          <a:ln w="5715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806295488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DB6896-9C86-E033-83AD-4B860B987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007ACB0-9DFC-3C76-677B-CAF756D78C21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9F652C10-436A-29B6-EAA9-84B9D8C8B2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78974782-F688-A087-3D1A-5696A980248B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Stock text</a:t>
            </a:r>
            <a:endParaRPr lang="hu-HU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F96606AA-2655-F94D-8364-E6DA6CBC88FE}"/>
              </a:ext>
            </a:extLst>
          </p:cNvPr>
          <p:cNvSpPr txBox="1"/>
          <p:nvPr/>
        </p:nvSpPr>
        <p:spPr>
          <a:xfrm>
            <a:off x="145077" y="1074695"/>
            <a:ext cx="4414210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Database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Contains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7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Table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identify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and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all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food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you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can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order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</a:t>
            </a:r>
            <a:endParaRPr lang="hu-HU" sz="2400" dirty="0" err="1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06FD6C13-9A9A-BD9C-3E55-6ECB0989A4DD}"/>
              </a:ext>
            </a:extLst>
          </p:cNvPr>
          <p:cNvSpPr txBox="1"/>
          <p:nvPr/>
        </p:nvSpPr>
        <p:spPr>
          <a:xfrm>
            <a:off x="7316227" y="1074695"/>
            <a:ext cx="4414210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The backend server is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responsible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for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running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full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REST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APIs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and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handling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CRUD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operations</a:t>
            </a:r>
            <a:endParaRPr lang="hu-HU" sz="2400" dirty="0" err="1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60681232"/>
      </p:ext>
    </p:extLst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602F10-0DC1-3E5F-F52D-16FECE04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CDA9ECE-E271-503A-3360-804E31DE9DA4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63F0A4FD-A05E-5459-F237-97F9731C830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4138FA34-531D-C2E6-52E0-C9A50FC7A159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Registration</a:t>
            </a:r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/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Sign</a:t>
            </a:r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 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Up</a:t>
            </a:r>
            <a:endParaRPr lang="hu-HU" err="1">
              <a:solidFill>
                <a:schemeClr val="bg1"/>
              </a:solidFill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FDE57ED1-8F77-F711-56F7-1DAEF217997F}"/>
              </a:ext>
            </a:extLst>
          </p:cNvPr>
          <p:cNvSpPr txBox="1"/>
          <p:nvPr/>
        </p:nvSpPr>
        <p:spPr>
          <a:xfrm>
            <a:off x="249460" y="1158202"/>
            <a:ext cx="441421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User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Friendly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endParaRPr lang="hu-HU" sz="2400" b="1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11509D52-8049-F190-A4AF-BFDCABBF1920}"/>
              </a:ext>
            </a:extLst>
          </p:cNvPr>
          <p:cNvSpPr txBox="1"/>
          <p:nvPr/>
        </p:nvSpPr>
        <p:spPr>
          <a:xfrm>
            <a:off x="7650253" y="1158201"/>
            <a:ext cx="441421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err="1">
                <a:solidFill>
                  <a:schemeClr val="accent4">
                    <a:lumMod val="75000"/>
                  </a:schemeClr>
                </a:solidFill>
              </a:rPr>
              <a:t>Obvious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err="1">
                <a:solidFill>
                  <a:schemeClr val="accent4">
                    <a:lumMod val="75000"/>
                  </a:schemeClr>
                </a:solidFill>
              </a:rPr>
              <a:t>Error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err="1">
                <a:solidFill>
                  <a:schemeClr val="accent4">
                    <a:lumMod val="75000"/>
                  </a:schemeClr>
                </a:solidFill>
              </a:rPr>
              <a:t>messages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 </a:t>
            </a:r>
            <a:endParaRPr lang="hu-HU" sz="240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24213369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60000"/>
            <a:lumOff val="40000"/>
          </a:schemeClr>
        </a:solidFill>
        <a:ln>
          <a:noFill/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334</Words>
  <Application>Microsoft Office PowerPoint</Application>
  <PresentationFormat>Szélesvásznú</PresentationFormat>
  <Paragraphs>30</Paragraphs>
  <Slides>11</Slides>
  <Notes>0</Notes>
  <HiddenSlides>0</HiddenSlides>
  <MMClips>0</MMClip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11</vt:i4>
      </vt:variant>
    </vt:vector>
  </HeadingPairs>
  <TitlesOfParts>
    <vt:vector size="12" baseType="lpstr"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Geforce</dc:creator>
  <cp:lastModifiedBy>Geforce</cp:lastModifiedBy>
  <cp:revision>671</cp:revision>
  <dcterms:created xsi:type="dcterms:W3CDTF">2026-01-18T17:12:36Z</dcterms:created>
  <dcterms:modified xsi:type="dcterms:W3CDTF">2026-01-26T07:25:47Z</dcterms:modified>
</cp:coreProperties>
</file>