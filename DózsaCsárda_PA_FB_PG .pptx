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71" r:id="rId3"/>
    <p:sldId id="257" r:id="rId4"/>
    <p:sldId id="293" r:id="rId5"/>
    <p:sldId id="266" r:id="rId6"/>
    <p:sldId id="294" r:id="rId7"/>
    <p:sldId id="289" r:id="rId8"/>
    <p:sldId id="290" r:id="rId9"/>
    <p:sldId id="258" r:id="rId10"/>
    <p:sldId id="261" r:id="rId11"/>
    <p:sldId id="259" r:id="rId12"/>
    <p:sldId id="285" r:id="rId13"/>
    <p:sldId id="286" r:id="rId14"/>
    <p:sldId id="260" r:id="rId15"/>
    <p:sldId id="262" r:id="rId16"/>
    <p:sldId id="263" r:id="rId17"/>
    <p:sldId id="292" r:id="rId18"/>
    <p:sldId id="279" r:id="rId19"/>
    <p:sldId id="267" r:id="rId20"/>
    <p:sldId id="269" r:id="rId21"/>
    <p:sldId id="264" r:id="rId22"/>
    <p:sldId id="270" r:id="rId23"/>
    <p:sldId id="283" r:id="rId24"/>
    <p:sldId id="280" r:id="rId25"/>
    <p:sldId id="287" r:id="rId26"/>
    <p:sldId id="288" r:id="rId2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CA33"/>
    <a:srgbClr val="2B2C2F"/>
    <a:srgbClr val="CEDAD7"/>
    <a:srgbClr val="D7D4CA"/>
    <a:srgbClr val="CFD2DC"/>
    <a:srgbClr val="18191A"/>
    <a:srgbClr val="1F1F21"/>
    <a:srgbClr val="EEFCFF"/>
    <a:srgbClr val="0D1117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0866" autoAdjust="0"/>
  </p:normalViewPr>
  <p:slideViewPr>
    <p:cSldViewPr snapToGrid="0">
      <p:cViewPr>
        <p:scale>
          <a:sx n="100" d="100"/>
          <a:sy n="100" d="100"/>
        </p:scale>
        <p:origin x="2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0,'0'8'0'0'0,"5"1"0"0"0,9 0 0 0 0,6 4 0 0 0,7 1 0 0 0,9-2 0 0 0,6 5 0 0 0,6-3 0 0 0,0-3 0 0 0,-1-1 0 0 0,-3-6 0 0 0,-3-1 0 0 0,-4-1 0 0 0,4-2 0 0 0,7-2 0 0 0,0 2 0 0 0,-1 0 0 0 0,2-1 0 0 0,0 1 0 0 0,-5 0 0 0 0,-2 0 0 0 0,-4 0 0 0 0,-2 0 0 0 0,-2 0 0 0 0,7 0 0 0 0,-1 0 0 0 0,1 0 0 0 0,4 0 0 0 0,6 0 0 0 0,6 0 0 0 0,-2 0 0 0 0,-3 0 0 0 0,-5 0 0 0 0,0 0 0 0 0,0 0 0 0 0,-6 0 0 0 0,6 0 0 0 0,-3 0 0 0 0,-1 0 0 0 0,-2 0 0 0 0,-3 0 0 0 0,-3 0 0 0 0,1 0 0 0 0,-3 0 0 0 0,1 0 0 0 0,-1 0 0 0 0,1 0 0 0 0,-1 0 0 0 0,1 0 0 0 0,-1 0 0 0 0,1 0 0 0 0,0 0 0 0 0,0 0 0 0 0,-1 0 0 0 0,1 0 0 0 0,0 0 0 0 0,0 0 0 0 0,1 0 0 0 0,-2 0 0 0 0,1 0 0 0 0,6 0 0 0 0,1 0 0 0 0,0 0 0 0 0,-1 0 0 0 0,-1 0 0 0 0,-4 0 0 0 0,1 0 0 0 0,-1 0 0 0 0,-2 0 0 0 0,1 0 0 0 0,-1 0 0 0 0,-5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29366 15652 16383 0 0,'-6'0'0'0'0,"-7"0"0"0"0,-8 0 0 0 0,-6 0 0 0 0,-3 0 0 0 0,-3 0 0 0 0,-1 0 0 0 0,-2 0 0 0 0,1 6 0 0 0,6 7 0 0 0,7 9 0 0 0,8 4 0 0 0,7 5 0 0 0,3 3 0 0 0,4 0 0 0 0,1 1 0 0 0,0 7 0 0 0,1 0 0 0 0,-6 1 0 0 0,-4-2 0 0 0,2 3 0 0 0,1 0 0 0 0,0-2 0 0 0,2 5 0 0 0,2-1 0 0 0,1-3 0 0 0,0-3 0 0 0,0 5 0 0 0,0-1 0 0 0,0 4 0 0 0,1-1 0 0 0,-1 5 0 0 0,0-2 0 0 0,0-5 0 0 0,0-2 0 0 0,0-4 0 0 0,0 3 0 0 0,0 1 0 0 0,0 4 0 0 0,0 0 0 0 0,0 4 0 0 0,0-2 0 0 0,0-2 0 0 0,0-5 0 0 0,0-3 0 0 0,0-2 0 0 0,0-2 0 0 0,0 5 0 0 0,0 2 0 0 0,0-2 0 0 0,0-2 0 0 0,0 0 0 0 0,0-1 0 0 0,0-3 0 0 0,0 2 0 0 0,0-3 0 0 0,0 1 0 0 0,0-1 0 0 0,0 1 0 0 0,0 0 0 0 0,0-1 0 0 0,0 1 0 0 0,0 0 0 0 0,0 1 0 0 0,0-2 0 0 0,0 7 0 0 0,0 2 0 0 0,0-1 0 0 0,0 4 0 0 0,0 1 0 0 0,0-2 0 0 0,0-3 0 0 0,0-2 0 0 0,0-2 0 0 0,0-2 0 0 0,0 4 0 0 0,0 3 0 0 0,0-1 0 0 0,0-2 0 0 0,0 4 0 0 0,0 7 0 0 0,0 0 0 0 0,0 4 0 0 0,0-2 0 0 0,0-4 0 0 0,0-7 0 0 0,0 5 0 0 0,0-2 0 0 0,0 0 0 0 0,0 0 0 0 0,0 8 0 0 0,0-1 0 0 0,0-5 0 0 0,0 5 0 0 0,0-4 0 0 0,0-1 0 0 0,0-6 0 0 0,0 11 0 0 0,0 0 0 0 0,0-2 0 0 0,0-3 0 0 0,0 2 0 0 0,0 4 0 0 0,0-2 0 0 0,0-2 0 0 0,0-4 0 0 0,0-4 0 0 0,0-3 0 0 0,0-2 0 0 0,0 0 0 0 0,0-2 0 0 0,0-1 0 0 0,0 3 0 0 0,0-2 0 0 0,0 0 0 0 0,5 1 0 0 0,9-6 0 0 0,1-2 0 0 0,-2 1 0 0 0,-3 1 0 0 0,-2 1 0 0 0,-4 3 0 0 0,-3 1 0 0 0,0 6 0 0 0,-1 3 0 0 0,-1 5 0 0 0,1 1 0 0 0,-1 2 0 0 0,1 1 0 0 0,0-4 0 0 0,-2-4 0 0 0,2-2 0 0 0,0-5 0 0 0,0-1 0 0 0,0-1 0 0 0,0 0 0 0 0,0-1 0 0 0,0 0 0 0 0,0 0 0 0 0,0 1 0 0 0,0-1 0 0 0,0 1 0 0 0,0 0 0 0 0,0 1 0 0 0,0-2 0 0 0,0 1 0 0 0,0 0 0 0 0,0 0 0 0 0,0 0 0 0 0,0-1 0 0 0,0 2 0 0 0,0-1 0 0 0,0 0 0 0 0,0 0 0 0 0,0-1 0 0 0,-5-4 0 0 0,-9-3 0 0 0,-1 0 0 0 0,3 3 0 0 0,1 1 0 0 0,5 1 0 0 0,1 1 0 0 0,9-4 0 0 0,3-2 0 0 0,1 1 0 0 0,-2 2 0 0 0,6-5 0 0 0,4-6 0 0 0,7-5 0 0 0,3-7 0 0 0,6-4 0 0 0,1 0 0 0 0,1-2 0 0 0,2-2 0 0 0,-2 1 0 0 0,0 0 0 0 0,1 0 0 0 0,0 1 0 0 0,-1 0 0 0 0,0-2 0 0 0,-6 2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89281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7.png"/><Relationship Id="rId7" Type="http://schemas.openxmlformats.org/officeDocument/2006/relationships/image" Target="../media/image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1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58.png"/><Relationship Id="rId7" Type="http://schemas.openxmlformats.org/officeDocument/2006/relationships/image" Target="../media/image60.emf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59.png"/><Relationship Id="rId10" Type="http://schemas.openxmlformats.org/officeDocument/2006/relationships/image" Target="../media/image1.png"/><Relationship Id="rId4" Type="http://schemas.openxmlformats.org/officeDocument/2006/relationships/image" Target="../media/image28.png"/><Relationship Id="rId9" Type="http://schemas.openxmlformats.org/officeDocument/2006/relationships/image" Target="../media/image6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e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jpe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9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672491"/>
            <a:ext cx="3433648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628989"/>
            <a:ext cx="342321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487825"/>
            <a:ext cx="3611100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46D0416A-A0DD-452D-9858-15F7C91D2780}"/>
              </a:ext>
            </a:extLst>
          </p:cNvPr>
          <p:cNvSpPr txBox="1"/>
          <p:nvPr/>
        </p:nvSpPr>
        <p:spPr>
          <a:xfrm>
            <a:off x="389981" y="5612282"/>
            <a:ext cx="1141203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Közös munka: Prezentáció készítés, Dokumentáció készítés, Csapatmunka: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Ticket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kezelés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 smtClean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9" name="Kép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448"/>
            <a:ext cx="12192000" cy="5787865"/>
          </a:xfrm>
          <a:prstGeom prst="rect">
            <a:avLst/>
          </a:prstGeom>
        </p:spPr>
      </p:pic>
      <p:pic>
        <p:nvPicPr>
          <p:cNvPr id="21" name="Kép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448"/>
            <a:ext cx="12192000" cy="5787865"/>
          </a:xfrm>
          <a:prstGeom prst="rect">
            <a:avLst/>
          </a:prstGeom>
        </p:spPr>
      </p:pic>
      <p:pic>
        <p:nvPicPr>
          <p:cNvPr id="20" name="Kép 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34305">
            <a:off x="199857" y="7533193"/>
            <a:ext cx="714375" cy="922407"/>
          </a:xfrm>
          <a:prstGeom prst="rect">
            <a:avLst/>
          </a:prstGeom>
        </p:spPr>
      </p:pic>
      <p:pic>
        <p:nvPicPr>
          <p:cNvPr id="23" name="Kép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44" y="1068382"/>
            <a:ext cx="6176065" cy="3742529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24" name="Kép 2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448"/>
            <a:ext cx="12192000" cy="5787865"/>
          </a:xfrm>
          <a:prstGeom prst="rect">
            <a:avLst/>
          </a:prstGeom>
        </p:spPr>
      </p:pic>
      <p:pic>
        <p:nvPicPr>
          <p:cNvPr id="22" name="Kép 2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448"/>
            <a:ext cx="12192000" cy="5787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0923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7.40741E-7 L 0.97214 -0.7379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8607" y="-3689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97214 -0.73796 L 0.97604 -0.27037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5" y="2338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97604 -0.27037 L 0.59076 -0.41181 " pathEditMode="relative" rAng="0" ptsTypes="AA">
                                      <p:cBhvr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271" y="-708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5782 -0.72107 L 0.44597 -0.93704 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599" y="-10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7337"/>
            <a:ext cx="12192000" cy="5787865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8859"/>
            <a:ext cx="12192000" cy="5787865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8859"/>
            <a:ext cx="12192000" cy="5787865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8858"/>
            <a:ext cx="12192000" cy="5787865"/>
          </a:xfrm>
          <a:prstGeom prst="rect">
            <a:avLst/>
          </a:prstGeom>
        </p:spPr>
      </p:pic>
      <p:sp>
        <p:nvSpPr>
          <p:cNvPr id="15" name="Téglalap 14"/>
          <p:cNvSpPr/>
          <p:nvPr/>
        </p:nvSpPr>
        <p:spPr>
          <a:xfrm>
            <a:off x="9780957" y="877336"/>
            <a:ext cx="2411043" cy="2474418"/>
          </a:xfrm>
          <a:prstGeom prst="rect">
            <a:avLst/>
          </a:prstGeom>
          <a:solidFill>
            <a:srgbClr val="F0E2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9" name="Kép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1558" y="877335"/>
            <a:ext cx="2810442" cy="870425"/>
          </a:xfrm>
          <a:prstGeom prst="rect">
            <a:avLst/>
          </a:prstGeom>
        </p:spPr>
      </p:pic>
      <p:pic>
        <p:nvPicPr>
          <p:cNvPr id="20" name="Kép 19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9086" y="1483184"/>
            <a:ext cx="2662914" cy="988450"/>
          </a:xfrm>
          <a:prstGeom prst="rect">
            <a:avLst/>
          </a:prstGeom>
        </p:spPr>
      </p:pic>
      <p:sp>
        <p:nvSpPr>
          <p:cNvPr id="40" name="Szorzás 39"/>
          <p:cNvSpPr/>
          <p:nvPr/>
        </p:nvSpPr>
        <p:spPr>
          <a:xfrm>
            <a:off x="810608" y="1977409"/>
            <a:ext cx="3067050" cy="306705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21" name="Kép 20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8858"/>
            <a:ext cx="12192000" cy="5787865"/>
          </a:xfrm>
          <a:prstGeom prst="rect">
            <a:avLst/>
          </a:prstGeom>
        </p:spPr>
      </p:pic>
      <p:sp>
        <p:nvSpPr>
          <p:cNvPr id="39" name="L alak 38"/>
          <p:cNvSpPr/>
          <p:nvPr/>
        </p:nvSpPr>
        <p:spPr>
          <a:xfrm rot="18900000">
            <a:off x="1540000" y="2921931"/>
            <a:ext cx="1856304" cy="914664"/>
          </a:xfrm>
          <a:prstGeom prst="corner">
            <a:avLst>
              <a:gd name="adj1" fmla="val 28449"/>
              <a:gd name="adj2" fmla="val 27423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22" name="Kép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7336"/>
            <a:ext cx="12192000" cy="5787865"/>
          </a:xfrm>
          <a:prstGeom prst="rect">
            <a:avLst/>
          </a:prstGeom>
        </p:spPr>
      </p:pic>
      <p:pic>
        <p:nvPicPr>
          <p:cNvPr id="23" name="Kép 2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7336"/>
            <a:ext cx="12192000" cy="5787865"/>
          </a:xfrm>
          <a:prstGeom prst="rect">
            <a:avLst/>
          </a:prstGeom>
        </p:spPr>
      </p:pic>
      <p:pic>
        <p:nvPicPr>
          <p:cNvPr id="24" name="Kép 2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7335"/>
            <a:ext cx="12192000" cy="5787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 smtClean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 &amp; Profil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710"/>
            <a:ext cx="12192000" cy="5787865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710"/>
            <a:ext cx="12192000" cy="5787865"/>
          </a:xfrm>
          <a:prstGeom prst="rect">
            <a:avLst/>
          </a:prstGeom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710"/>
            <a:ext cx="12192000" cy="5787865"/>
          </a:xfrm>
          <a:prstGeom prst="rect">
            <a:avLst/>
          </a:prstGeom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710"/>
            <a:ext cx="12192000" cy="5787865"/>
          </a:xfrm>
          <a:prstGeom prst="rect">
            <a:avLst/>
          </a:prstGeom>
        </p:spPr>
      </p:pic>
      <p:pic>
        <p:nvPicPr>
          <p:cNvPr id="9" name="Kép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710"/>
            <a:ext cx="12192000" cy="5790882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4710"/>
            <a:ext cx="12192000" cy="5787865"/>
          </a:xfrm>
          <a:prstGeom prst="rect">
            <a:avLst/>
          </a:prstGeom>
        </p:spPr>
      </p:pic>
      <p:pic>
        <p:nvPicPr>
          <p:cNvPr id="20" name="Kép 1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34305">
            <a:off x="12747457" y="4383594"/>
            <a:ext cx="714375" cy="922407"/>
          </a:xfrm>
          <a:prstGeom prst="rect">
            <a:avLst/>
          </a:prstGeom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41693"/>
            <a:ext cx="12192000" cy="5787865"/>
          </a:xfrm>
          <a:prstGeom prst="rect">
            <a:avLst/>
          </a:prstGeom>
        </p:spPr>
      </p:pic>
      <p:pic>
        <p:nvPicPr>
          <p:cNvPr id="13" name="Kép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0744"/>
            <a:ext cx="12192000" cy="5787865"/>
          </a:xfrm>
          <a:prstGeom prst="rect">
            <a:avLst/>
          </a:prstGeom>
        </p:spPr>
      </p:pic>
      <p:pic>
        <p:nvPicPr>
          <p:cNvPr id="14" name="Kép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50744"/>
            <a:ext cx="12192000" cy="5787865"/>
          </a:xfrm>
          <a:prstGeom prst="rect">
            <a:avLst/>
          </a:prstGeom>
        </p:spPr>
      </p:pic>
      <p:pic>
        <p:nvPicPr>
          <p:cNvPr id="25" name="Kép 2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34305">
            <a:off x="12937957" y="1703894"/>
            <a:ext cx="714375" cy="92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8783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0 L -0.63008 -0.47477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510" y="-23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63008 -0.47477 L -0.6207 -0.22292 " pathEditMode="relative" rAng="0" ptsTypes="AA">
                                      <p:cBhvr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9" y="1259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6207 -0.22292 L -0.76133 -0.02662 " pathEditMode="relative" rAng="0" ptsTypes="AA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031" y="9815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76133 -0.02662 L -0.53216 -0.10255 " pathEditMode="relative" rAng="0" ptsTypes="AA">
                                      <p:cBhvr>
                                        <p:cTn id="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3796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0.53216 -0.10255 L -0.38945 -0.03773 " pathEditMode="relative" rAng="0" ptsTypes="AA">
                                      <p:cBhvr>
                                        <p:cTn id="34" dur="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135" y="32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8945 -0.03773 L -0.27279 -0.13403 " pathEditMode="relative" rAng="0" ptsTypes="AA">
                                      <p:cBhvr>
                                        <p:cTn id="3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33" y="-4815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7.40741E-7 L -0.54986 0.57523 " pathEditMode="relative" rAng="0" ptsTypes="AA">
                                      <p:cBhvr>
                                        <p:cTn id="5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500" y="28750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54986 0.57523 L -0.55195 0.43819 " pathEditMode="relative" rAng="0" ptsTypes="AA">
                                      <p:cBhvr>
                                        <p:cTn id="5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-6852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799" y="2243432"/>
            <a:ext cx="4978402" cy="2837468"/>
          </a:xfrm>
          <a:prstGeom prst="rect">
            <a:avLst/>
          </a:prstGeom>
          <a:ln w="38100"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A311E7EF-2DEE-4C22-B935-98AC7D3F7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406" y="7103748"/>
            <a:ext cx="5046718" cy="1352827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A0C2844-5D97-438B-8EA3-B52D5E829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7103748"/>
            <a:ext cx="6108700" cy="2214158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199147997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22222E-6 L 0 -0.18033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-2.22222E-6 L -2.29167E-6 -0.40278 " pathEditMode="relative" rAng="0" ptsTypes="AA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139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7.40741E-7 L -2.91667E-6 -0.32708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636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245200" y="24854"/>
            <a:ext cx="737956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felület: Alap ötlet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C229837-0636-4736-BF62-E9860C47C3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7917"/>
            <a:ext cx="1960775" cy="5963687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E4DBBF7-414B-409A-9DB9-2AF5CB7EB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8604" y="1883006"/>
            <a:ext cx="7715870" cy="819150"/>
          </a:xfrm>
          <a:prstGeom prst="rect">
            <a:avLst/>
          </a:prstGeom>
        </p:spPr>
      </p:pic>
      <p:sp>
        <p:nvSpPr>
          <p:cNvPr id="19" name="Szövegdoboz 18">
            <a:extLst>
              <a:ext uri="{FF2B5EF4-FFF2-40B4-BE49-F238E27FC236}">
                <a16:creationId xmlns:a16="http://schemas.microsoft.com/office/drawing/2014/main" id="{32131AA8-BB19-4620-80A2-23A3486A321D}"/>
              </a:ext>
            </a:extLst>
          </p:cNvPr>
          <p:cNvSpPr txBox="1"/>
          <p:nvPr/>
        </p:nvSpPr>
        <p:spPr>
          <a:xfrm>
            <a:off x="2245200" y="1359786"/>
            <a:ext cx="1960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rgbClr val="BF9000"/>
                </a:solidFill>
              </a:rPr>
              <a:t>Hivatkozás</a:t>
            </a:r>
          </a:p>
        </p:txBody>
      </p:sp>
      <p:pic>
        <p:nvPicPr>
          <p:cNvPr id="21" name="Kép 20">
            <a:extLst>
              <a:ext uri="{FF2B5EF4-FFF2-40B4-BE49-F238E27FC236}">
                <a16:creationId xmlns:a16="http://schemas.microsoft.com/office/drawing/2014/main" id="{BED49B21-537B-4302-93E8-41D7419D5B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117" y="2946862"/>
            <a:ext cx="2548971" cy="3659006"/>
          </a:xfrm>
          <a:prstGeom prst="rect">
            <a:avLst/>
          </a:prstGeom>
        </p:spPr>
      </p:pic>
      <p:sp>
        <p:nvSpPr>
          <p:cNvPr id="25" name="Szövegdoboz 24">
            <a:extLst>
              <a:ext uri="{FF2B5EF4-FFF2-40B4-BE49-F238E27FC236}">
                <a16:creationId xmlns:a16="http://schemas.microsoft.com/office/drawing/2014/main" id="{F6B6F2B6-90AA-4C04-B96E-99CF2441D332}"/>
              </a:ext>
            </a:extLst>
          </p:cNvPr>
          <p:cNvSpPr txBox="1"/>
          <p:nvPr/>
        </p:nvSpPr>
        <p:spPr>
          <a:xfrm>
            <a:off x="6417559" y="3727488"/>
            <a:ext cx="56590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rgbClr val="FF0000"/>
                </a:solidFill>
              </a:rPr>
              <a:t>A fejlesztés kihívásai, és a technológiai megoldások nehézségei miatt végül félbehagytuk, és kivettük a fejlesztésből!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C77D750-4BDE-40CB-98B7-625980A9654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846598">
            <a:off x="13146189" y="964959"/>
            <a:ext cx="551558" cy="738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101648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9401 0.90371 L -1.0207 0.60718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036" y="-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674" y="7585026"/>
            <a:ext cx="7864652" cy="4667720"/>
          </a:xfrm>
          <a:prstGeom prst="rect">
            <a:avLst/>
          </a:prstGeom>
          <a:ln w="38100">
            <a:noFill/>
          </a:ln>
        </p:spPr>
      </p:pic>
      <p:grpSp>
        <p:nvGrpSpPr>
          <p:cNvPr id="3" name="Csoportba foglalás 2"/>
          <p:cNvGrpSpPr/>
          <p:nvPr/>
        </p:nvGrpSpPr>
        <p:grpSpPr>
          <a:xfrm>
            <a:off x="1246059" y="2243867"/>
            <a:ext cx="10180812" cy="2690990"/>
            <a:chOff x="4018341" y="817128"/>
            <a:chExt cx="4636247" cy="1225452"/>
          </a:xfrm>
        </p:grpSpPr>
        <p:pic>
          <p:nvPicPr>
            <p:cNvPr id="1026" name="Picture 2" descr="undefined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18341" y="892867"/>
              <a:ext cx="1143409" cy="11434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5" descr="Visual Studio logo and symbol, meaning, history, PNG">
              <a:extLst>
                <a:ext uri="{FF2B5EF4-FFF2-40B4-BE49-F238E27FC236}">
                  <a16:creationId xmlns:a16="http://schemas.microsoft.com/office/drawing/2014/main" id="{C7CE94B2-3D26-E347-A01E-85D2E943C3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29762" y="817128"/>
              <a:ext cx="2124826" cy="1225452"/>
            </a:xfrm>
            <a:prstGeom prst="rect">
              <a:avLst/>
            </a:prstGeom>
          </p:spPr>
        </p:pic>
      </p:grpSp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-0.1206 L -1.45833E-6 -0.30972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46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</p:cBhvr>
                                      <p:by x="40000" y="4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3.7037E-6 L 0 -0.8051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402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7526" y="2380864"/>
            <a:ext cx="2476886" cy="2476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2497" y="2380907"/>
            <a:ext cx="2476800" cy="24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7381" y="2380907"/>
            <a:ext cx="2476800" cy="24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grpSp>
        <p:nvGrpSpPr>
          <p:cNvPr id="12" name="Csoportba foglalás 11"/>
          <p:cNvGrpSpPr/>
          <p:nvPr/>
        </p:nvGrpSpPr>
        <p:grpSpPr>
          <a:xfrm>
            <a:off x="87751" y="6962775"/>
            <a:ext cx="11838621" cy="3670735"/>
            <a:chOff x="87751" y="2815412"/>
            <a:chExt cx="11838621" cy="3670735"/>
          </a:xfrm>
        </p:grpSpPr>
        <p:pic>
          <p:nvPicPr>
            <p:cNvPr id="3" name="Kép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751" y="3047622"/>
              <a:ext cx="4587901" cy="3419853"/>
            </a:xfrm>
            <a:prstGeom prst="rect">
              <a:avLst/>
            </a:prstGeom>
          </p:spPr>
        </p:pic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81134" y="2815412"/>
              <a:ext cx="3829466" cy="3652063"/>
            </a:xfrm>
            <a:prstGeom prst="rect">
              <a:avLst/>
            </a:prstGeom>
          </p:spPr>
        </p:pic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716082" y="3393021"/>
              <a:ext cx="3210290" cy="30931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2.22222E-6 L -0.20703 -0.1805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352" y="-902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2.22222E-6 L -0.04739 -0.23056 " pathEditMode="relative" rAng="0" ptsTypes="AA">
                                      <p:cBhvr>
                                        <p:cTn id="8" dur="1000" fill="hold"/>
                                        <p:tgtEl>
                                          <p:spTgt spid="10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70" y="-11528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2.22222E-6 L 0.04453 -0.14445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27" y="-7222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2" dur="1000" fill="hold"/>
                                        <p:tgtEl>
                                          <p:spTgt spid="1026"/>
                                        </p:tgtEl>
                                      </p:cBhvr>
                                      <p:by x="60000" y="6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4" dur="1000" fill="hold"/>
                                        <p:tgtEl>
                                          <p:spTgt spid="1028"/>
                                        </p:tgtEl>
                                      </p:cBhvr>
                                      <p:by x="60000" y="60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1000" fill="hold"/>
                                        <p:tgtEl>
                                          <p:spTgt spid="1030"/>
                                        </p:tgtEl>
                                      </p:cBhvr>
                                      <p:by x="60000" y="6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3.7037E-7 L 1.66667E-6 -0.56343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817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717" y="1107044"/>
            <a:ext cx="1084281" cy="1084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458" y="1213795"/>
            <a:ext cx="2067899" cy="870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210" y="2346846"/>
            <a:ext cx="5294873" cy="3821758"/>
          </a:xfrm>
          <a:prstGeom prst="rect">
            <a:avLst/>
          </a:prstGeom>
          <a:ln w="38100"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717" y="2346846"/>
            <a:ext cx="6148008" cy="3821758"/>
          </a:xfrm>
          <a:prstGeom prst="rect">
            <a:avLst/>
          </a:prstGeom>
          <a:ln w="38100">
            <a:noFill/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681" y="878329"/>
            <a:ext cx="1080836" cy="1080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noFill/>
          </a:ln>
        </p:spPr>
      </p:pic>
      <p:sp>
        <p:nvSpPr>
          <p:cNvPr id="3" name="Téglalap 2"/>
          <p:cNvSpPr/>
          <p:nvPr/>
        </p:nvSpPr>
        <p:spPr>
          <a:xfrm>
            <a:off x="7084382" y="1508075"/>
            <a:ext cx="2849732" cy="7319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254685" y="1591465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rgbClr val="EEFCFF"/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noFill/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noFill/>
          </a:ln>
        </p:spPr>
      </p:pic>
      <p:sp>
        <p:nvSpPr>
          <p:cNvPr id="15" name="Téglalap 14"/>
          <p:cNvSpPr/>
          <p:nvPr/>
        </p:nvSpPr>
        <p:spPr>
          <a:xfrm>
            <a:off x="131477" y="906386"/>
            <a:ext cx="3381314" cy="679093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noFill/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87751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rgbClr val="EEFCFF"/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0" name="Téglalap 9"/>
          <p:cNvSpPr/>
          <p:nvPr/>
        </p:nvSpPr>
        <p:spPr>
          <a:xfrm>
            <a:off x="1402888" y="849383"/>
            <a:ext cx="2112669" cy="763226"/>
          </a:xfrm>
          <a:prstGeom prst="rect">
            <a:avLst/>
          </a:prstGeom>
          <a:solidFill>
            <a:srgbClr val="1F1F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626476" y="880709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rgbClr val="CEDAD7"/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1088" y="1282885"/>
            <a:ext cx="3283474" cy="138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451" y="1403933"/>
            <a:ext cx="4320504" cy="5335746"/>
          </a:xfrm>
          <a:prstGeom prst="rect">
            <a:avLst/>
          </a:prstGeom>
        </p:spPr>
      </p:pic>
      <p:sp>
        <p:nvSpPr>
          <p:cNvPr id="11" name="Téglalap 10"/>
          <p:cNvSpPr/>
          <p:nvPr/>
        </p:nvSpPr>
        <p:spPr>
          <a:xfrm>
            <a:off x="6702642" y="3167774"/>
            <a:ext cx="5184558" cy="763226"/>
          </a:xfrm>
          <a:prstGeom prst="rect">
            <a:avLst/>
          </a:prstGeom>
          <a:solidFill>
            <a:srgbClr val="2B2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707" y="3757938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69750" y="3232024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rgbClr val="CEDAD7"/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2950" y="1466416"/>
            <a:ext cx="3283160" cy="10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084" y="3086069"/>
            <a:ext cx="4740966" cy="3063503"/>
          </a:xfrm>
          <a:prstGeom prst="rect">
            <a:avLst/>
          </a:prstGeom>
          <a:ln w="38100">
            <a:noFill/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6922" y="1224732"/>
            <a:ext cx="2497003" cy="1529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2956749"/>
            <a:ext cx="6782725" cy="3192823"/>
          </a:xfrm>
          <a:prstGeom prst="rect">
            <a:avLst/>
          </a:prstGeom>
          <a:ln w="38100">
            <a:noFill/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956251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03" y="746647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6096000" y="2719666"/>
            <a:ext cx="397348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2400" b="1" dirty="0" smtClean="0">
                <a:solidFill>
                  <a:srgbClr val="C0CA33"/>
                </a:solidFill>
              </a:rPr>
              <a:t>(</a:t>
            </a:r>
            <a:r>
              <a:rPr lang="hu-HU" sz="2400" b="1" dirty="0" err="1" smtClean="0">
                <a:solidFill>
                  <a:srgbClr val="C0CA33"/>
                </a:solidFill>
              </a:rPr>
              <a:t>Embedded</a:t>
            </a:r>
            <a:r>
              <a:rPr lang="hu-HU" sz="2400" b="1" dirty="0" smtClean="0">
                <a:solidFill>
                  <a:srgbClr val="C0CA33"/>
                </a:solidFill>
              </a:rPr>
              <a:t> </a:t>
            </a:r>
            <a:r>
              <a:rPr lang="hu-HU" sz="2400" b="1" dirty="0">
                <a:solidFill>
                  <a:srgbClr val="C0CA33"/>
                </a:solidFill>
              </a:rPr>
              <a:t>JavaScript</a:t>
            </a:r>
            <a:r>
              <a:rPr lang="hu-HU" sz="2400" b="1" dirty="0" smtClean="0">
                <a:solidFill>
                  <a:srgbClr val="C0CA33"/>
                </a:solidFill>
              </a:rPr>
              <a:t>)</a:t>
            </a:r>
            <a:endParaRPr lang="hu-HU" sz="2400" dirty="0">
              <a:solidFill>
                <a:srgbClr val="C0CA33"/>
              </a:solidFill>
            </a:endParaRP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504" y="3296498"/>
            <a:ext cx="6302090" cy="2623258"/>
          </a:xfrm>
          <a:prstGeom prst="rect">
            <a:avLst/>
          </a:prstGeom>
          <a:ln w="38100">
            <a:noFill/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03" y="3296498"/>
            <a:ext cx="5221815" cy="3253073"/>
          </a:xfrm>
          <a:prstGeom prst="rect">
            <a:avLst/>
          </a:prstGeom>
          <a:ln w="38100"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6791853" y="3991064"/>
              <a:ext cx="987145" cy="45719"/>
            </p14:xfrm>
          </p:contentPart>
        </mc:Choice>
        <mc:Fallback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73853" y="3973064"/>
                <a:ext cx="1023146" cy="817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6916864" y="4058583"/>
              <a:ext cx="170026" cy="2226767"/>
            </p14:xfrm>
          </p:contentPart>
        </mc:Choice>
        <mc:Fallback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98853" y="4040582"/>
                <a:ext cx="206048" cy="2262770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4976" y="923067"/>
            <a:ext cx="3633852" cy="1102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650" y="2050760"/>
            <a:ext cx="7258700" cy="4725864"/>
          </a:xfrm>
          <a:prstGeom prst="rect">
            <a:avLst/>
          </a:prstGeom>
          <a:noFill/>
          <a:ln w="38100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grpSp>
        <p:nvGrpSpPr>
          <p:cNvPr id="41" name="Csoportba foglalás 40">
            <a:extLst>
              <a:ext uri="{FF2B5EF4-FFF2-40B4-BE49-F238E27FC236}">
                <a16:creationId xmlns:a16="http://schemas.microsoft.com/office/drawing/2014/main" id="{9027856C-5C55-448D-BFB0-A57D73E56824}"/>
              </a:ext>
            </a:extLst>
          </p:cNvPr>
          <p:cNvGrpSpPr/>
          <p:nvPr/>
        </p:nvGrpSpPr>
        <p:grpSpPr>
          <a:xfrm>
            <a:off x="592195" y="1258005"/>
            <a:ext cx="11007610" cy="5125130"/>
            <a:chOff x="467078" y="886530"/>
            <a:chExt cx="11007610" cy="5125130"/>
          </a:xfrm>
        </p:grpSpPr>
        <p:cxnSp>
          <p:nvCxnSpPr>
            <p:cNvPr id="8" name="Egyenes összekötő 7">
              <a:extLst>
                <a:ext uri="{FF2B5EF4-FFF2-40B4-BE49-F238E27FC236}">
                  <a16:creationId xmlns:a16="http://schemas.microsoft.com/office/drawing/2014/main" id="{FD23E498-60D0-469A-AE15-D758388AEFEE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6095999" y="2038753"/>
              <a:ext cx="1" cy="688688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gyenes összekötő 28">
              <a:extLst>
                <a:ext uri="{FF2B5EF4-FFF2-40B4-BE49-F238E27FC236}">
                  <a16:creationId xmlns:a16="http://schemas.microsoft.com/office/drawing/2014/main" id="{44B36701-06C2-44C3-AF70-B3C60E7E69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09455" y="2572384"/>
              <a:ext cx="864029" cy="641119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gyenes összekötő 30">
              <a:extLst>
                <a:ext uri="{FF2B5EF4-FFF2-40B4-BE49-F238E27FC236}">
                  <a16:creationId xmlns:a16="http://schemas.microsoft.com/office/drawing/2014/main" id="{BE01AAE9-3942-4990-A43B-1F5240E81A5A}"/>
                </a:ext>
              </a:extLst>
            </p:cNvPr>
            <p:cNvCxnSpPr>
              <a:stCxn id="18" idx="3"/>
            </p:cNvCxnSpPr>
            <p:nvPr/>
          </p:nvCxnSpPr>
          <p:spPr>
            <a:xfrm flipH="1">
              <a:off x="4798142" y="3959381"/>
              <a:ext cx="787572" cy="366425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gyenes összekötő 33">
              <a:extLst>
                <a:ext uri="{FF2B5EF4-FFF2-40B4-BE49-F238E27FC236}">
                  <a16:creationId xmlns:a16="http://schemas.microsoft.com/office/drawing/2014/main" id="{CB36D8A0-3070-465F-B07C-40C95DEE930E}"/>
                </a:ext>
              </a:extLst>
            </p:cNvPr>
            <p:cNvCxnSpPr>
              <a:cxnSpLocks/>
              <a:stCxn id="18" idx="4"/>
            </p:cNvCxnSpPr>
            <p:nvPr/>
          </p:nvCxnSpPr>
          <p:spPr>
            <a:xfrm flipH="1">
              <a:off x="6095999" y="4170749"/>
              <a:ext cx="1" cy="688688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Egyenes összekötő 35">
              <a:extLst>
                <a:ext uri="{FF2B5EF4-FFF2-40B4-BE49-F238E27FC236}">
                  <a16:creationId xmlns:a16="http://schemas.microsoft.com/office/drawing/2014/main" id="{E71EBB24-6857-468E-9D3A-EA30F3A0D1B8}"/>
                </a:ext>
              </a:extLst>
            </p:cNvPr>
            <p:cNvCxnSpPr>
              <a:stCxn id="18" idx="5"/>
            </p:cNvCxnSpPr>
            <p:nvPr/>
          </p:nvCxnSpPr>
          <p:spPr>
            <a:xfrm>
              <a:off x="6606286" y="3959381"/>
              <a:ext cx="883085" cy="511019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Egyenes összekötő 37">
              <a:extLst>
                <a:ext uri="{FF2B5EF4-FFF2-40B4-BE49-F238E27FC236}">
                  <a16:creationId xmlns:a16="http://schemas.microsoft.com/office/drawing/2014/main" id="{952FF962-575B-42C9-A4F7-1204ADDEF4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40284" y="2572384"/>
              <a:ext cx="849087" cy="641119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zis 17">
              <a:extLst>
                <a:ext uri="{FF2B5EF4-FFF2-40B4-BE49-F238E27FC236}">
                  <a16:creationId xmlns:a16="http://schemas.microsoft.com/office/drawing/2014/main" id="{05CA48A4-9063-44B6-BEC1-992D025A5F18}"/>
                </a:ext>
              </a:extLst>
            </p:cNvPr>
            <p:cNvSpPr/>
            <p:nvPr/>
          </p:nvSpPr>
          <p:spPr>
            <a:xfrm>
              <a:off x="5374346" y="2727441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 err="1">
                  <a:solidFill>
                    <a:schemeClr val="bg1"/>
                  </a:solidFill>
                </a:rPr>
                <a:t>Manual</a:t>
              </a:r>
              <a:r>
                <a:rPr lang="hu-HU" b="1" dirty="0">
                  <a:solidFill>
                    <a:schemeClr val="bg1"/>
                  </a:solidFill>
                </a:rPr>
                <a:t> Testing</a:t>
              </a:r>
            </a:p>
          </p:txBody>
        </p:sp>
        <p:sp>
          <p:nvSpPr>
            <p:cNvPr id="42" name="Ellipszis 41">
              <a:extLst>
                <a:ext uri="{FF2B5EF4-FFF2-40B4-BE49-F238E27FC236}">
                  <a16:creationId xmlns:a16="http://schemas.microsoft.com/office/drawing/2014/main" id="{49EE20CA-BB7B-49C2-A72B-4FF84FE30BD0}"/>
                </a:ext>
              </a:extLst>
            </p:cNvPr>
            <p:cNvSpPr/>
            <p:nvPr/>
          </p:nvSpPr>
          <p:spPr>
            <a:xfrm>
              <a:off x="5374345" y="886530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 err="1">
                  <a:solidFill>
                    <a:schemeClr val="bg1"/>
                  </a:solidFill>
                </a:rPr>
                <a:t>Analysis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43" name="Ellipszis 42">
              <a:extLst>
                <a:ext uri="{FF2B5EF4-FFF2-40B4-BE49-F238E27FC236}">
                  <a16:creationId xmlns:a16="http://schemas.microsoft.com/office/drawing/2014/main" id="{5221279F-706C-46DB-A22B-F7501DA769C9}"/>
                </a:ext>
              </a:extLst>
            </p:cNvPr>
            <p:cNvSpPr/>
            <p:nvPr/>
          </p:nvSpPr>
          <p:spPr>
            <a:xfrm>
              <a:off x="5374345" y="4568352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b="1" dirty="0">
                  <a:solidFill>
                    <a:schemeClr val="bg1"/>
                  </a:solidFill>
                </a:rPr>
                <a:t>Test </a:t>
              </a:r>
              <a:r>
                <a:rPr lang="hu-HU" sz="1600" b="1" dirty="0" err="1">
                  <a:solidFill>
                    <a:schemeClr val="bg1"/>
                  </a:solidFill>
                </a:rPr>
                <a:t>Case</a:t>
              </a:r>
              <a:r>
                <a:rPr lang="hu-HU" sz="1600" b="1" dirty="0">
                  <a:solidFill>
                    <a:schemeClr val="bg1"/>
                  </a:solidFill>
                </a:rPr>
                <a:t> </a:t>
              </a:r>
              <a:r>
                <a:rPr lang="hu-HU" sz="1600" b="1" dirty="0" err="1">
                  <a:solidFill>
                    <a:schemeClr val="bg1"/>
                  </a:solidFill>
                </a:rPr>
                <a:t>Execution</a:t>
              </a:r>
              <a:endParaRPr lang="hu-HU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44" name="Ellipszis 43">
              <a:extLst>
                <a:ext uri="{FF2B5EF4-FFF2-40B4-BE49-F238E27FC236}">
                  <a16:creationId xmlns:a16="http://schemas.microsoft.com/office/drawing/2014/main" id="{A45F980A-38A9-4452-9AC7-5483EE1A2706}"/>
                </a:ext>
              </a:extLst>
            </p:cNvPr>
            <p:cNvSpPr/>
            <p:nvPr/>
          </p:nvSpPr>
          <p:spPr>
            <a:xfrm>
              <a:off x="3777470" y="1661443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b="1" dirty="0" err="1">
                  <a:solidFill>
                    <a:schemeClr val="bg1"/>
                  </a:solidFill>
                </a:rPr>
                <a:t>Defect</a:t>
              </a:r>
              <a:r>
                <a:rPr lang="hu-HU" sz="1600" b="1" dirty="0">
                  <a:solidFill>
                    <a:schemeClr val="bg1"/>
                  </a:solidFill>
                </a:rPr>
                <a:t> Fix</a:t>
              </a:r>
            </a:p>
            <a:p>
              <a:pPr algn="ctr"/>
              <a:r>
                <a:rPr lang="hu-HU" sz="1600" b="1" dirty="0">
                  <a:solidFill>
                    <a:schemeClr val="bg1"/>
                  </a:solidFill>
                </a:rPr>
                <a:t>&amp;</a:t>
              </a:r>
            </a:p>
            <a:p>
              <a:pPr algn="ctr"/>
              <a:r>
                <a:rPr lang="hu-HU" sz="1600" b="1" dirty="0" err="1">
                  <a:solidFill>
                    <a:schemeClr val="bg1"/>
                  </a:solidFill>
                </a:rPr>
                <a:t>Reverifi</a:t>
              </a:r>
              <a:r>
                <a:rPr lang="hu-HU" sz="1600" b="1" dirty="0">
                  <a:solidFill>
                    <a:schemeClr val="bg1"/>
                  </a:solidFill>
                </a:rPr>
                <a:t>-</a:t>
              </a:r>
            </a:p>
            <a:p>
              <a:pPr algn="ctr"/>
              <a:r>
                <a:rPr lang="hu-HU" sz="1600" b="1" dirty="0" err="1">
                  <a:solidFill>
                    <a:schemeClr val="bg1"/>
                  </a:solidFill>
                </a:rPr>
                <a:t>cation</a:t>
              </a:r>
              <a:endParaRPr lang="hu-HU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45" name="Ellipszis 44">
              <a:extLst>
                <a:ext uri="{FF2B5EF4-FFF2-40B4-BE49-F238E27FC236}">
                  <a16:creationId xmlns:a16="http://schemas.microsoft.com/office/drawing/2014/main" id="{DCCCA231-0430-4E7A-AF55-DC544699FA32}"/>
                </a:ext>
              </a:extLst>
            </p:cNvPr>
            <p:cNvSpPr/>
            <p:nvPr/>
          </p:nvSpPr>
          <p:spPr>
            <a:xfrm>
              <a:off x="6971220" y="1661443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>
                  <a:solidFill>
                    <a:schemeClr val="bg1"/>
                  </a:solidFill>
                </a:rPr>
                <a:t>Test </a:t>
              </a:r>
              <a:r>
                <a:rPr lang="hu-HU" b="1" dirty="0" err="1">
                  <a:solidFill>
                    <a:schemeClr val="bg1"/>
                  </a:solidFill>
                </a:rPr>
                <a:t>Plan</a:t>
              </a:r>
              <a:r>
                <a:rPr lang="hu-HU" b="1" dirty="0">
                  <a:solidFill>
                    <a:schemeClr val="bg1"/>
                  </a:solidFill>
                </a:rPr>
                <a:t> </a:t>
              </a:r>
              <a:r>
                <a:rPr lang="hu-HU" b="1" dirty="0" err="1">
                  <a:solidFill>
                    <a:schemeClr val="bg1"/>
                  </a:solidFill>
                </a:rPr>
                <a:t>Creation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46" name="Ellipszis 45">
              <a:extLst>
                <a:ext uri="{FF2B5EF4-FFF2-40B4-BE49-F238E27FC236}">
                  <a16:creationId xmlns:a16="http://schemas.microsoft.com/office/drawing/2014/main" id="{FBB09BCE-6E4D-484F-B082-C9D31EA6DD43}"/>
                </a:ext>
              </a:extLst>
            </p:cNvPr>
            <p:cNvSpPr/>
            <p:nvPr/>
          </p:nvSpPr>
          <p:spPr>
            <a:xfrm>
              <a:off x="3777470" y="3649398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 err="1">
                  <a:solidFill>
                    <a:schemeClr val="bg1"/>
                  </a:solidFill>
                </a:rPr>
                <a:t>Defect</a:t>
              </a:r>
              <a:r>
                <a:rPr lang="hu-HU" b="1" dirty="0">
                  <a:solidFill>
                    <a:schemeClr val="bg1"/>
                  </a:solidFill>
                </a:rPr>
                <a:t> </a:t>
              </a:r>
              <a:r>
                <a:rPr lang="hu-HU" b="1" dirty="0" err="1">
                  <a:solidFill>
                    <a:schemeClr val="bg1"/>
                  </a:solidFill>
                </a:rPr>
                <a:t>Logging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47" name="Ellipszis 46">
              <a:extLst>
                <a:ext uri="{FF2B5EF4-FFF2-40B4-BE49-F238E27FC236}">
                  <a16:creationId xmlns:a16="http://schemas.microsoft.com/office/drawing/2014/main" id="{8DC5D614-20DE-40EE-BDBA-5091BA206D11}"/>
                </a:ext>
              </a:extLst>
            </p:cNvPr>
            <p:cNvSpPr/>
            <p:nvPr/>
          </p:nvSpPr>
          <p:spPr>
            <a:xfrm>
              <a:off x="6971220" y="3649398"/>
              <a:ext cx="1443308" cy="144330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>
                  <a:solidFill>
                    <a:schemeClr val="bg1"/>
                  </a:solidFill>
                </a:rPr>
                <a:t>Test </a:t>
              </a:r>
              <a:r>
                <a:rPr lang="hu-HU" b="1" dirty="0" err="1">
                  <a:solidFill>
                    <a:schemeClr val="bg1"/>
                  </a:solidFill>
                </a:rPr>
                <a:t>Case</a:t>
              </a:r>
              <a:r>
                <a:rPr lang="hu-HU" b="1" dirty="0">
                  <a:solidFill>
                    <a:schemeClr val="bg1"/>
                  </a:solidFill>
                </a:rPr>
                <a:t> </a:t>
              </a:r>
              <a:r>
                <a:rPr lang="hu-HU" b="1" dirty="0" err="1">
                  <a:solidFill>
                    <a:schemeClr val="bg1"/>
                  </a:solidFill>
                </a:rPr>
                <a:t>Creation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40" name="Szövegdoboz 39">
              <a:extLst>
                <a:ext uri="{FF2B5EF4-FFF2-40B4-BE49-F238E27FC236}">
                  <a16:creationId xmlns:a16="http://schemas.microsoft.com/office/drawing/2014/main" id="{FF4B604A-60C7-45E9-A76F-12784CA66BBB}"/>
                </a:ext>
              </a:extLst>
            </p:cNvPr>
            <p:cNvSpPr txBox="1"/>
            <p:nvPr/>
          </p:nvSpPr>
          <p:spPr>
            <a:xfrm rot="20862564">
              <a:off x="467078" y="1293552"/>
              <a:ext cx="3178021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6600" b="1" dirty="0" err="1">
                  <a:solidFill>
                    <a:schemeClr val="accent6"/>
                  </a:solidFill>
                  <a:latin typeface="Ink Free" panose="03080402000500000000" pitchFamily="66" charset="0"/>
                </a:rPr>
                <a:t>Manual</a:t>
              </a:r>
              <a:endParaRPr lang="hu-HU" sz="6600" b="1" dirty="0">
                <a:solidFill>
                  <a:schemeClr val="accent6"/>
                </a:solidFill>
                <a:latin typeface="Ink Free" panose="03080402000500000000" pitchFamily="66" charset="0"/>
              </a:endParaRPr>
            </a:p>
          </p:txBody>
        </p:sp>
        <p:sp>
          <p:nvSpPr>
            <p:cNvPr id="49" name="Szövegdoboz 48">
              <a:extLst>
                <a:ext uri="{FF2B5EF4-FFF2-40B4-BE49-F238E27FC236}">
                  <a16:creationId xmlns:a16="http://schemas.microsoft.com/office/drawing/2014/main" id="{8C0382BA-9377-4DEA-A73A-7AA16665E42B}"/>
                </a:ext>
              </a:extLst>
            </p:cNvPr>
            <p:cNvSpPr txBox="1"/>
            <p:nvPr/>
          </p:nvSpPr>
          <p:spPr>
            <a:xfrm rot="747908">
              <a:off x="8296667" y="1242912"/>
              <a:ext cx="3178021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6600" b="1" dirty="0">
                  <a:solidFill>
                    <a:schemeClr val="accent6"/>
                  </a:solidFill>
                  <a:latin typeface="Ink Free" panose="03080402000500000000" pitchFamily="66" charset="0"/>
                </a:rPr>
                <a:t>Testing</a:t>
              </a:r>
            </a:p>
          </p:txBody>
        </p:sp>
      </p:grpSp>
      <p:grpSp>
        <p:nvGrpSpPr>
          <p:cNvPr id="48" name="Csoportba foglalás 47">
            <a:extLst>
              <a:ext uri="{FF2B5EF4-FFF2-40B4-BE49-F238E27FC236}">
                <a16:creationId xmlns:a16="http://schemas.microsoft.com/office/drawing/2014/main" id="{14C36881-6799-49D0-8C99-A839321F0D91}"/>
              </a:ext>
            </a:extLst>
          </p:cNvPr>
          <p:cNvGrpSpPr/>
          <p:nvPr/>
        </p:nvGrpSpPr>
        <p:grpSpPr>
          <a:xfrm>
            <a:off x="574296" y="1258005"/>
            <a:ext cx="11007610" cy="5125130"/>
            <a:chOff x="5653587" y="-6021881"/>
            <a:chExt cx="11007610" cy="5125130"/>
          </a:xfrm>
        </p:grpSpPr>
        <p:cxnSp>
          <p:nvCxnSpPr>
            <p:cNvPr id="50" name="Egyenes összekötő 49">
              <a:extLst>
                <a:ext uri="{FF2B5EF4-FFF2-40B4-BE49-F238E27FC236}">
                  <a16:creationId xmlns:a16="http://schemas.microsoft.com/office/drawing/2014/main" id="{0739254D-C50C-4696-89E2-B9802C7F68F4}"/>
                </a:ext>
              </a:extLst>
            </p:cNvPr>
            <p:cNvCxnSpPr>
              <a:cxnSpLocks/>
              <a:stCxn id="56" idx="0"/>
            </p:cNvCxnSpPr>
            <p:nvPr/>
          </p:nvCxnSpPr>
          <p:spPr>
            <a:xfrm flipH="1" flipV="1">
              <a:off x="11282508" y="-4869658"/>
              <a:ext cx="1" cy="688688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gyenes összekötő 50">
              <a:extLst>
                <a:ext uri="{FF2B5EF4-FFF2-40B4-BE49-F238E27FC236}">
                  <a16:creationId xmlns:a16="http://schemas.microsoft.com/office/drawing/2014/main" id="{CFAE72FD-2902-456B-B482-25E27CDB01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95964" y="-4336027"/>
              <a:ext cx="864029" cy="641119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gyenes összekötő 51">
              <a:extLst>
                <a:ext uri="{FF2B5EF4-FFF2-40B4-BE49-F238E27FC236}">
                  <a16:creationId xmlns:a16="http://schemas.microsoft.com/office/drawing/2014/main" id="{A567C0E1-10BC-4798-948A-F81640B0A780}"/>
                </a:ext>
              </a:extLst>
            </p:cNvPr>
            <p:cNvCxnSpPr>
              <a:stCxn id="56" idx="3"/>
            </p:cNvCxnSpPr>
            <p:nvPr/>
          </p:nvCxnSpPr>
          <p:spPr>
            <a:xfrm flipH="1">
              <a:off x="9984651" y="-2949030"/>
              <a:ext cx="787572" cy="366425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Egyenes összekötő 52">
              <a:extLst>
                <a:ext uri="{FF2B5EF4-FFF2-40B4-BE49-F238E27FC236}">
                  <a16:creationId xmlns:a16="http://schemas.microsoft.com/office/drawing/2014/main" id="{2F1E70F2-5C6A-4A5C-9F58-827891653683}"/>
                </a:ext>
              </a:extLst>
            </p:cNvPr>
            <p:cNvCxnSpPr>
              <a:cxnSpLocks/>
              <a:stCxn id="56" idx="4"/>
            </p:cNvCxnSpPr>
            <p:nvPr/>
          </p:nvCxnSpPr>
          <p:spPr>
            <a:xfrm flipH="1">
              <a:off x="11282508" y="-2737662"/>
              <a:ext cx="1" cy="688688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Egyenes összekötő 53">
              <a:extLst>
                <a:ext uri="{FF2B5EF4-FFF2-40B4-BE49-F238E27FC236}">
                  <a16:creationId xmlns:a16="http://schemas.microsoft.com/office/drawing/2014/main" id="{548C061B-DD8C-47F2-B4AF-1096923FC52E}"/>
                </a:ext>
              </a:extLst>
            </p:cNvPr>
            <p:cNvCxnSpPr>
              <a:stCxn id="56" idx="5"/>
            </p:cNvCxnSpPr>
            <p:nvPr/>
          </p:nvCxnSpPr>
          <p:spPr>
            <a:xfrm>
              <a:off x="11792795" y="-2949030"/>
              <a:ext cx="883085" cy="511019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Egyenes összekötő 54">
              <a:extLst>
                <a:ext uri="{FF2B5EF4-FFF2-40B4-BE49-F238E27FC236}">
                  <a16:creationId xmlns:a16="http://schemas.microsoft.com/office/drawing/2014/main" id="{B28D783C-6828-4EBB-B6CA-E87AAEA7FB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26793" y="-4336027"/>
              <a:ext cx="849087" cy="641119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Ellipszis 55">
              <a:extLst>
                <a:ext uri="{FF2B5EF4-FFF2-40B4-BE49-F238E27FC236}">
                  <a16:creationId xmlns:a16="http://schemas.microsoft.com/office/drawing/2014/main" id="{C300AE5D-AB8F-47CC-B5B5-3552EF88E623}"/>
                </a:ext>
              </a:extLst>
            </p:cNvPr>
            <p:cNvSpPr/>
            <p:nvPr/>
          </p:nvSpPr>
          <p:spPr>
            <a:xfrm>
              <a:off x="10560855" y="-4180970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>
                  <a:solidFill>
                    <a:schemeClr val="bg1"/>
                  </a:solidFill>
                </a:rPr>
                <a:t>Unit Testing</a:t>
              </a:r>
            </a:p>
          </p:txBody>
        </p:sp>
        <p:sp>
          <p:nvSpPr>
            <p:cNvPr id="57" name="Ellipszis 56">
              <a:extLst>
                <a:ext uri="{FF2B5EF4-FFF2-40B4-BE49-F238E27FC236}">
                  <a16:creationId xmlns:a16="http://schemas.microsoft.com/office/drawing/2014/main" id="{822034B4-C69B-4E85-A283-9A654934AD85}"/>
                </a:ext>
              </a:extLst>
            </p:cNvPr>
            <p:cNvSpPr/>
            <p:nvPr/>
          </p:nvSpPr>
          <p:spPr>
            <a:xfrm>
              <a:off x="10560854" y="-6021881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b="1" dirty="0" err="1">
                  <a:solidFill>
                    <a:schemeClr val="bg1"/>
                  </a:solidFill>
                </a:rPr>
                <a:t>Check</a:t>
              </a:r>
              <a:r>
                <a:rPr lang="hu-HU" sz="1400" b="1" dirty="0">
                  <a:solidFill>
                    <a:schemeClr val="bg1"/>
                  </a:solidFill>
                </a:rPr>
                <a:t> </a:t>
              </a:r>
              <a:r>
                <a:rPr lang="hu-HU" sz="1400" b="1" dirty="0" err="1">
                  <a:solidFill>
                    <a:schemeClr val="bg1"/>
                  </a:solidFill>
                </a:rPr>
                <a:t>code</a:t>
              </a:r>
              <a:r>
                <a:rPr lang="hu-HU" sz="1400" b="1" dirty="0">
                  <a:solidFill>
                    <a:schemeClr val="bg1"/>
                  </a:solidFill>
                </a:rPr>
                <a:t> </a:t>
              </a:r>
              <a:r>
                <a:rPr lang="hu-HU" sz="1400" b="1" dirty="0" err="1">
                  <a:solidFill>
                    <a:schemeClr val="bg1"/>
                  </a:solidFill>
                </a:rPr>
                <a:t>from</a:t>
              </a:r>
              <a:r>
                <a:rPr lang="hu-HU" sz="1400" b="1" dirty="0">
                  <a:solidFill>
                    <a:schemeClr val="bg1"/>
                  </a:solidFill>
                </a:rPr>
                <a:t> </a:t>
              </a:r>
              <a:r>
                <a:rPr lang="hu-HU" sz="1400" b="1" dirty="0" err="1">
                  <a:solidFill>
                    <a:schemeClr val="bg1"/>
                  </a:solidFill>
                </a:rPr>
                <a:t>repository</a:t>
              </a:r>
              <a:endParaRPr lang="hu-HU" sz="1400" b="1" dirty="0">
                <a:solidFill>
                  <a:schemeClr val="bg1"/>
                </a:solidFill>
              </a:endParaRPr>
            </a:p>
          </p:txBody>
        </p:sp>
        <p:sp>
          <p:nvSpPr>
            <p:cNvPr id="58" name="Ellipszis 57">
              <a:extLst>
                <a:ext uri="{FF2B5EF4-FFF2-40B4-BE49-F238E27FC236}">
                  <a16:creationId xmlns:a16="http://schemas.microsoft.com/office/drawing/2014/main" id="{9F2AC682-90E9-4B7B-808B-335E499D9CD4}"/>
                </a:ext>
              </a:extLst>
            </p:cNvPr>
            <p:cNvSpPr/>
            <p:nvPr/>
          </p:nvSpPr>
          <p:spPr>
            <a:xfrm>
              <a:off x="10560854" y="-2340059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600" b="1" dirty="0">
                  <a:solidFill>
                    <a:schemeClr val="bg1"/>
                  </a:solidFill>
                </a:rPr>
                <a:t>Fix </a:t>
              </a:r>
              <a:r>
                <a:rPr lang="hu-HU" sz="1600" b="1" dirty="0" err="1">
                  <a:solidFill>
                    <a:schemeClr val="bg1"/>
                  </a:solidFill>
                </a:rPr>
                <a:t>defects</a:t>
              </a:r>
              <a:r>
                <a:rPr lang="hu-HU" sz="1600" b="1" dirty="0">
                  <a:solidFill>
                    <a:schemeClr val="bg1"/>
                  </a:solidFill>
                </a:rPr>
                <a:t> &amp; re-</a:t>
              </a:r>
              <a:r>
                <a:rPr lang="hu-HU" sz="1600" b="1" dirty="0" err="1">
                  <a:solidFill>
                    <a:schemeClr val="bg1"/>
                  </a:solidFill>
                </a:rPr>
                <a:t>execute</a:t>
              </a:r>
              <a:r>
                <a:rPr lang="hu-HU" sz="1600" b="1" dirty="0">
                  <a:solidFill>
                    <a:schemeClr val="bg1"/>
                  </a:solidFill>
                </a:rPr>
                <a:t> </a:t>
              </a:r>
              <a:r>
                <a:rPr lang="hu-HU" sz="1600" b="1" dirty="0" err="1">
                  <a:solidFill>
                    <a:schemeClr val="bg1"/>
                  </a:solidFill>
                </a:rPr>
                <a:t>tests</a:t>
              </a:r>
              <a:endParaRPr lang="hu-HU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59" name="Ellipszis 58">
              <a:extLst>
                <a:ext uri="{FF2B5EF4-FFF2-40B4-BE49-F238E27FC236}">
                  <a16:creationId xmlns:a16="http://schemas.microsoft.com/office/drawing/2014/main" id="{F08D314A-DD4F-4F2A-91A0-DF0652F0F65D}"/>
                </a:ext>
              </a:extLst>
            </p:cNvPr>
            <p:cNvSpPr/>
            <p:nvPr/>
          </p:nvSpPr>
          <p:spPr>
            <a:xfrm>
              <a:off x="8963979" y="-5246968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sz="1400" b="1" dirty="0" err="1">
                  <a:solidFill>
                    <a:schemeClr val="bg1"/>
                  </a:solidFill>
                </a:rPr>
                <a:t>Check</a:t>
              </a:r>
              <a:r>
                <a:rPr lang="hu-HU" sz="1400" b="1" dirty="0">
                  <a:solidFill>
                    <a:schemeClr val="bg1"/>
                  </a:solidFill>
                </a:rPr>
                <a:t> in </a:t>
              </a:r>
              <a:r>
                <a:rPr lang="hu-HU" sz="1400" b="1" dirty="0" err="1">
                  <a:solidFill>
                    <a:schemeClr val="bg1"/>
                  </a:solidFill>
                </a:rPr>
                <a:t>code</a:t>
              </a:r>
              <a:r>
                <a:rPr lang="hu-HU" sz="1400" b="1" dirty="0">
                  <a:solidFill>
                    <a:schemeClr val="bg1"/>
                  </a:solidFill>
                </a:rPr>
                <a:t> </a:t>
              </a:r>
              <a:r>
                <a:rPr lang="hu-HU" sz="1400" b="1" dirty="0" err="1">
                  <a:solidFill>
                    <a:schemeClr val="bg1"/>
                  </a:solidFill>
                </a:rPr>
                <a:t>into</a:t>
              </a:r>
              <a:r>
                <a:rPr lang="hu-HU" sz="1400" b="1" dirty="0">
                  <a:solidFill>
                    <a:schemeClr val="bg1"/>
                  </a:solidFill>
                </a:rPr>
                <a:t> </a:t>
              </a:r>
              <a:r>
                <a:rPr lang="hu-HU" sz="1400" b="1" dirty="0" err="1">
                  <a:solidFill>
                    <a:schemeClr val="bg1"/>
                  </a:solidFill>
                </a:rPr>
                <a:t>repository</a:t>
              </a:r>
              <a:endParaRPr lang="hu-HU" sz="1400" b="1" dirty="0">
                <a:solidFill>
                  <a:schemeClr val="bg1"/>
                </a:solidFill>
              </a:endParaRPr>
            </a:p>
          </p:txBody>
        </p:sp>
        <p:sp>
          <p:nvSpPr>
            <p:cNvPr id="60" name="Ellipszis 59">
              <a:extLst>
                <a:ext uri="{FF2B5EF4-FFF2-40B4-BE49-F238E27FC236}">
                  <a16:creationId xmlns:a16="http://schemas.microsoft.com/office/drawing/2014/main" id="{DD654F13-B58F-43CE-9705-3D0577E15340}"/>
                </a:ext>
              </a:extLst>
            </p:cNvPr>
            <p:cNvSpPr/>
            <p:nvPr/>
          </p:nvSpPr>
          <p:spPr>
            <a:xfrm>
              <a:off x="12157729" y="-5246968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 err="1">
                  <a:solidFill>
                    <a:schemeClr val="bg1"/>
                  </a:solidFill>
                </a:rPr>
                <a:t>Make</a:t>
              </a:r>
              <a:r>
                <a:rPr lang="hu-HU" b="1" dirty="0">
                  <a:solidFill>
                    <a:schemeClr val="bg1"/>
                  </a:solidFill>
                </a:rPr>
                <a:t> </a:t>
              </a:r>
              <a:r>
                <a:rPr lang="hu-HU" b="1" dirty="0" err="1">
                  <a:solidFill>
                    <a:schemeClr val="bg1"/>
                  </a:solidFill>
                </a:rPr>
                <a:t>Changes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61" name="Ellipszis 60">
              <a:extLst>
                <a:ext uri="{FF2B5EF4-FFF2-40B4-BE49-F238E27FC236}">
                  <a16:creationId xmlns:a16="http://schemas.microsoft.com/office/drawing/2014/main" id="{71A385DA-C7FB-49A4-B558-10645991AB65}"/>
                </a:ext>
              </a:extLst>
            </p:cNvPr>
            <p:cNvSpPr/>
            <p:nvPr/>
          </p:nvSpPr>
          <p:spPr>
            <a:xfrm>
              <a:off x="8963979" y="-3259013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 err="1">
                  <a:solidFill>
                    <a:schemeClr val="bg1"/>
                  </a:solidFill>
                </a:rPr>
                <a:t>Code</a:t>
              </a:r>
              <a:r>
                <a:rPr lang="hu-HU" b="1" dirty="0">
                  <a:solidFill>
                    <a:schemeClr val="bg1"/>
                  </a:solidFill>
                </a:rPr>
                <a:t> </a:t>
              </a:r>
              <a:r>
                <a:rPr lang="hu-HU" b="1" dirty="0" err="1">
                  <a:solidFill>
                    <a:schemeClr val="bg1"/>
                  </a:solidFill>
                </a:rPr>
                <a:t>review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62" name="Ellipszis 61">
              <a:extLst>
                <a:ext uri="{FF2B5EF4-FFF2-40B4-BE49-F238E27FC236}">
                  <a16:creationId xmlns:a16="http://schemas.microsoft.com/office/drawing/2014/main" id="{3703A172-6990-4F53-94DD-D06A5045A2B4}"/>
                </a:ext>
              </a:extLst>
            </p:cNvPr>
            <p:cNvSpPr/>
            <p:nvPr/>
          </p:nvSpPr>
          <p:spPr>
            <a:xfrm>
              <a:off x="12157729" y="-3259013"/>
              <a:ext cx="1443308" cy="1443308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b="1" dirty="0" err="1">
                  <a:solidFill>
                    <a:schemeClr val="bg1"/>
                  </a:solidFill>
                </a:rPr>
                <a:t>Execute</a:t>
              </a:r>
              <a:r>
                <a:rPr lang="hu-HU" b="1" dirty="0">
                  <a:solidFill>
                    <a:schemeClr val="bg1"/>
                  </a:solidFill>
                </a:rPr>
                <a:t> unit </a:t>
              </a:r>
              <a:r>
                <a:rPr lang="hu-HU" b="1" dirty="0" err="1">
                  <a:solidFill>
                    <a:schemeClr val="bg1"/>
                  </a:solidFill>
                </a:rPr>
                <a:t>tests</a:t>
              </a:r>
              <a:endParaRPr lang="hu-HU" b="1" dirty="0">
                <a:solidFill>
                  <a:schemeClr val="bg1"/>
                </a:solidFill>
              </a:endParaRPr>
            </a:p>
          </p:txBody>
        </p:sp>
        <p:sp>
          <p:nvSpPr>
            <p:cNvPr id="63" name="Szövegdoboz 62">
              <a:extLst>
                <a:ext uri="{FF2B5EF4-FFF2-40B4-BE49-F238E27FC236}">
                  <a16:creationId xmlns:a16="http://schemas.microsoft.com/office/drawing/2014/main" id="{91A01D95-D315-4363-B9FE-84C7F901C36F}"/>
                </a:ext>
              </a:extLst>
            </p:cNvPr>
            <p:cNvSpPr txBox="1"/>
            <p:nvPr/>
          </p:nvSpPr>
          <p:spPr>
            <a:xfrm rot="20862564">
              <a:off x="5653587" y="-5614859"/>
              <a:ext cx="3178021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6600" b="1" dirty="0">
                  <a:solidFill>
                    <a:schemeClr val="accent1">
                      <a:lumMod val="75000"/>
                    </a:schemeClr>
                  </a:solidFill>
                  <a:latin typeface="Ink Free" panose="03080402000500000000" pitchFamily="66" charset="0"/>
                </a:rPr>
                <a:t>Unit</a:t>
              </a:r>
            </a:p>
          </p:txBody>
        </p:sp>
        <p:sp>
          <p:nvSpPr>
            <p:cNvPr id="64" name="Szövegdoboz 63">
              <a:extLst>
                <a:ext uri="{FF2B5EF4-FFF2-40B4-BE49-F238E27FC236}">
                  <a16:creationId xmlns:a16="http://schemas.microsoft.com/office/drawing/2014/main" id="{CDBC07EA-09B8-4554-8E25-B0658525E940}"/>
                </a:ext>
              </a:extLst>
            </p:cNvPr>
            <p:cNvSpPr txBox="1"/>
            <p:nvPr/>
          </p:nvSpPr>
          <p:spPr>
            <a:xfrm rot="747908">
              <a:off x="13483176" y="-5665499"/>
              <a:ext cx="3178021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u-HU" sz="6600" b="1" dirty="0">
                  <a:solidFill>
                    <a:schemeClr val="accent1">
                      <a:lumMod val="75000"/>
                    </a:schemeClr>
                  </a:solidFill>
                  <a:latin typeface="Ink Free" panose="03080402000500000000" pitchFamily="66" charset="0"/>
                </a:rPr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56533374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1475" y="516333"/>
            <a:ext cx="3829050" cy="2153842"/>
          </a:xfrm>
          <a:prstGeom prst="rect">
            <a:avLst/>
          </a:prstGeom>
        </p:spPr>
      </p:pic>
      <p:pic>
        <p:nvPicPr>
          <p:cNvPr id="7" name="Kép 6"/>
          <p:cNvPicPr/>
          <p:nvPr/>
        </p:nvPicPr>
        <p:blipFill>
          <a:blip r:embed="rId4"/>
          <a:stretch>
            <a:fillRect/>
          </a:stretch>
        </p:blipFill>
        <p:spPr>
          <a:xfrm>
            <a:off x="3564376" y="2530475"/>
            <a:ext cx="5063248" cy="4108450"/>
          </a:xfrm>
          <a:prstGeom prst="rect">
            <a:avLst/>
          </a:prstGeom>
        </p:spPr>
      </p:pic>
      <p:pic>
        <p:nvPicPr>
          <p:cNvPr id="8" name="Kép 7"/>
          <p:cNvPicPr/>
          <p:nvPr/>
        </p:nvPicPr>
        <p:blipFill>
          <a:blip r:embed="rId5"/>
          <a:stretch>
            <a:fillRect/>
          </a:stretch>
        </p:blipFill>
        <p:spPr>
          <a:xfrm>
            <a:off x="221099" y="5149691"/>
            <a:ext cx="3155828" cy="1489234"/>
          </a:xfrm>
          <a:prstGeom prst="rect">
            <a:avLst/>
          </a:prstGeom>
        </p:spPr>
      </p:pic>
      <p:pic>
        <p:nvPicPr>
          <p:cNvPr id="9" name="Kép 8"/>
          <p:cNvPicPr/>
          <p:nvPr/>
        </p:nvPicPr>
        <p:blipFill>
          <a:blip r:embed="rId6"/>
          <a:stretch>
            <a:fillRect/>
          </a:stretch>
        </p:blipFill>
        <p:spPr>
          <a:xfrm>
            <a:off x="9178048" y="5076009"/>
            <a:ext cx="2476498" cy="1562916"/>
          </a:xfrm>
          <a:prstGeom prst="rect">
            <a:avLst/>
          </a:prstGeom>
        </p:spPr>
      </p:pic>
      <p:pic>
        <p:nvPicPr>
          <p:cNvPr id="10" name="Kép 9"/>
          <p:cNvPicPr/>
          <p:nvPr/>
        </p:nvPicPr>
        <p:blipFill>
          <a:blip r:embed="rId7"/>
          <a:stretch>
            <a:fillRect/>
          </a:stretch>
        </p:blipFill>
        <p:spPr>
          <a:xfrm>
            <a:off x="9178048" y="3844376"/>
            <a:ext cx="2480552" cy="1126880"/>
          </a:xfrm>
          <a:prstGeom prst="rect">
            <a:avLst/>
          </a:prstGeom>
        </p:spPr>
      </p:pic>
      <p:pic>
        <p:nvPicPr>
          <p:cNvPr id="11" name="Kép 10"/>
          <p:cNvPicPr/>
          <p:nvPr/>
        </p:nvPicPr>
        <p:blipFill>
          <a:blip r:embed="rId8"/>
          <a:stretch>
            <a:fillRect/>
          </a:stretch>
        </p:blipFill>
        <p:spPr>
          <a:xfrm>
            <a:off x="9178048" y="1094304"/>
            <a:ext cx="2362200" cy="2697696"/>
          </a:xfrm>
          <a:prstGeom prst="rect">
            <a:avLst/>
          </a:prstGeom>
        </p:spPr>
      </p:pic>
      <p:pic>
        <p:nvPicPr>
          <p:cNvPr id="12" name="Kép 11"/>
          <p:cNvPicPr/>
          <p:nvPr/>
        </p:nvPicPr>
        <p:blipFill>
          <a:blip r:embed="rId9"/>
          <a:stretch>
            <a:fillRect/>
          </a:stretch>
        </p:blipFill>
        <p:spPr>
          <a:xfrm>
            <a:off x="221099" y="2679454"/>
            <a:ext cx="2226786" cy="2291802"/>
          </a:xfrm>
          <a:prstGeom prst="rect">
            <a:avLst/>
          </a:prstGeom>
        </p:spPr>
      </p:pic>
      <p:pic>
        <p:nvPicPr>
          <p:cNvPr id="14" name="Kép 13"/>
          <p:cNvPicPr/>
          <p:nvPr/>
        </p:nvPicPr>
        <p:blipFill>
          <a:blip r:embed="rId10"/>
          <a:stretch>
            <a:fillRect/>
          </a:stretch>
        </p:blipFill>
        <p:spPr>
          <a:xfrm>
            <a:off x="221099" y="1585335"/>
            <a:ext cx="3162302" cy="945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noFill/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noFill/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noFill/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noFill/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noFill/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noFill/>
          </a:ln>
        </p:spPr>
      </p:pic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CRUD(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b="1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noFill/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noFill/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noFill/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noFill/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noFill/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147600"/>
            <a:ext cx="9947982" cy="1194585"/>
          </a:xfrm>
          <a:prstGeom prst="rect">
            <a:avLst/>
          </a:prstGeom>
          <a:ln w="38100">
            <a:noFill/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4988773"/>
            <a:ext cx="991298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800" b="1" u="sng" dirty="0">
                <a:solidFill>
                  <a:srgbClr val="FF0000"/>
                </a:solidFill>
              </a:rPr>
              <a:t>FONTOS!</a:t>
            </a:r>
            <a:r>
              <a:rPr lang="hu-HU" sz="2400" b="1" dirty="0">
                <a:solidFill>
                  <a:srgbClr val="FF0000"/>
                </a:solidFill>
              </a:rPr>
              <a:t>: A szerver elindításakor nem kell utána semmit megnyitni, az </a:t>
            </a:r>
            <a:r>
              <a:rPr lang="hu-HU" sz="2400" b="1" dirty="0" err="1">
                <a:solidFill>
                  <a:srgbClr val="FF0000"/>
                </a:solidFill>
              </a:rPr>
              <a:t>open</a:t>
            </a:r>
            <a:r>
              <a:rPr lang="hu-HU" sz="2400" b="1" dirty="0">
                <a:solidFill>
                  <a:srgbClr val="FF0000"/>
                </a:solidFill>
              </a:rPr>
              <a:t> csomaggal automatikusan megteszi.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2527760"/>
            <a:ext cx="9947982" cy="2122073"/>
          </a:xfrm>
          <a:prstGeom prst="rect">
            <a:avLst/>
          </a:prstGeom>
          <a:ln w="38100">
            <a:noFill/>
          </a:ln>
        </p:spPr>
      </p:pic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2050" name="Picture 2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0FF959F0-0FFA-426E-B236-18EFC4AB6E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0450" y="1054358"/>
            <a:ext cx="5076826" cy="2820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pic>
        <p:nvPicPr>
          <p:cNvPr id="2052" name="Picture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1050CC27-98F0-440E-8370-EB278E72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3312" y="4623458"/>
            <a:ext cx="808672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2093312" y="5480476"/>
            <a:ext cx="81680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a RUN_SEED értéke </a:t>
            </a:r>
            <a:r>
              <a:rPr lang="hu-HU" sz="1800" b="1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ezt az üzenetet kapjuk vissza a Backend Szerveren.</a:t>
            </a:r>
            <a:r>
              <a:rPr lang="hu-HU" sz="1800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579864578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3574390" y="2890391"/>
            <a:ext cx="50432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4000" b="1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Köszönjük a figyelmet!</a:t>
            </a:r>
            <a:endParaRPr lang="hu-HU" sz="4000" b="1" dirty="0"/>
          </a:p>
        </p:txBody>
      </p:sp>
    </p:spTree>
    <p:extLst>
      <p:ext uri="{BB962C8B-B14F-4D97-AF65-F5344CB8AC3E}">
        <p14:creationId xmlns:p14="http://schemas.microsoft.com/office/powerpoint/2010/main" val="3159789707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434</Words>
  <Application>Microsoft Office PowerPoint</Application>
  <PresentationFormat>Szélesvásznú</PresentationFormat>
  <Paragraphs>101</Paragraphs>
  <Slides>26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Ink Free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Geforce</cp:lastModifiedBy>
  <cp:revision>296</cp:revision>
  <dcterms:created xsi:type="dcterms:W3CDTF">2026-01-18T17:12:36Z</dcterms:created>
  <dcterms:modified xsi:type="dcterms:W3CDTF">2026-04-11T16:59:48Z</dcterms:modified>
</cp:coreProperties>
</file>