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1" r:id="rId5"/>
    <p:sldId id="259" r:id="rId6"/>
    <p:sldId id="260" r:id="rId7"/>
    <p:sldId id="262" r:id="rId8"/>
    <p:sldId id="263" r:id="rId9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37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2026. 01. 24.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728522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2026. 01. 24.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973560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2026. 01. 24.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096826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2026. 01. 24.</a:t>
            </a:fld>
            <a:endParaRPr lang="hu-HU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829871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2026. 01. 24.</a:t>
            </a:fld>
            <a:endParaRPr lang="hu-HU"/>
          </a:p>
        </p:txBody>
      </p:sp>
      <p:sp>
        <p:nvSpPr>
          <p:cNvPr id="8" name="Élőláb hely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940291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2026. 01. 24.</a:t>
            </a:fld>
            <a:endParaRPr lang="hu-HU"/>
          </a:p>
        </p:txBody>
      </p:sp>
      <p:sp>
        <p:nvSpPr>
          <p:cNvPr id="4" name="Élőláb hely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7341102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2026. 01. 24.</a:t>
            </a:fld>
            <a:endParaRPr lang="hu-HU"/>
          </a:p>
        </p:txBody>
      </p:sp>
      <p:sp>
        <p:nvSpPr>
          <p:cNvPr id="3" name="Élőláb hely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174026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2026. 01. 24.</a:t>
            </a:fld>
            <a:endParaRPr lang="hu-HU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502216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2026. 01. 24.</a:t>
            </a:fld>
            <a:endParaRPr lang="hu-HU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881137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2026. 01. 24.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4848081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2026. 01. 24.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146791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B0193E8-478D-464D-8400-8CD4306FD776}" type="datetimeFigureOut">
              <a:rPr lang="hu-HU" smtClean="0"/>
              <a:t>2026. 01. 24.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702912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pic>
        <p:nvPicPr>
          <p:cNvPr id="5" name="Kép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12029" y="904378"/>
            <a:ext cx="3967942" cy="3851174"/>
          </a:xfrm>
          <a:prstGeom prst="rect">
            <a:avLst/>
          </a:prstGeom>
          <a:effectLst/>
        </p:spPr>
      </p:pic>
      <p:sp>
        <p:nvSpPr>
          <p:cNvPr id="6" name="Szövegdoboz 5"/>
          <p:cNvSpPr txBox="1"/>
          <p:nvPr/>
        </p:nvSpPr>
        <p:spPr>
          <a:xfrm>
            <a:off x="2841566" y="4840780"/>
            <a:ext cx="6508868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6600" b="1" dirty="0">
                <a:gradFill>
                  <a:gsLst>
                    <a:gs pos="0">
                      <a:schemeClr val="accent4"/>
                    </a:gs>
                    <a:gs pos="100000">
                      <a:schemeClr val="accent4">
                        <a:lumMod val="75000"/>
                      </a:schemeClr>
                    </a:gs>
                  </a:gsLst>
                  <a:lin ang="5400000" scaled="1"/>
                </a:gradFill>
                <a:effectLst>
                  <a:outerShdw sx="97000" sy="97000" algn="ctr" rotWithShape="0">
                    <a:schemeClr val="accent1">
                      <a:lumMod val="20000"/>
                      <a:lumOff val="80000"/>
                    </a:schemeClr>
                  </a:outerShdw>
                </a:effectLst>
                <a:latin typeface="Ink Free" panose="03080402000500000000" pitchFamily="66" charset="0"/>
              </a:rPr>
              <a:t>DÓZSA CSÁRDA</a:t>
            </a:r>
          </a:p>
        </p:txBody>
      </p:sp>
      <p:sp>
        <p:nvSpPr>
          <p:cNvPr id="7" name="Szövegdoboz 6"/>
          <p:cNvSpPr txBox="1"/>
          <p:nvPr/>
        </p:nvSpPr>
        <p:spPr>
          <a:xfrm>
            <a:off x="85725" y="5743575"/>
            <a:ext cx="23050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chemeClr val="accent4">
                    <a:lumMod val="75000"/>
                  </a:schemeClr>
                </a:solidFill>
              </a:rPr>
              <a:t>Pálosi András</a:t>
            </a:r>
          </a:p>
          <a:p>
            <a:r>
              <a:rPr lang="hu-HU" dirty="0">
                <a:solidFill>
                  <a:schemeClr val="accent4">
                    <a:lumMod val="75000"/>
                  </a:schemeClr>
                </a:solidFill>
              </a:rPr>
              <a:t>Pongrácz Gábor</a:t>
            </a:r>
          </a:p>
          <a:p>
            <a:r>
              <a:rPr lang="hu-HU" dirty="0">
                <a:solidFill>
                  <a:schemeClr val="accent4">
                    <a:lumMod val="75000"/>
                  </a:schemeClr>
                </a:solidFill>
              </a:rPr>
              <a:t>Farkas Bence</a:t>
            </a:r>
          </a:p>
        </p:txBody>
      </p:sp>
    </p:spTree>
    <p:extLst>
      <p:ext uri="{BB962C8B-B14F-4D97-AF65-F5344CB8AC3E}">
        <p14:creationId xmlns:p14="http://schemas.microsoft.com/office/powerpoint/2010/main" val="23912597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pic>
        <p:nvPicPr>
          <p:cNvPr id="3" name="Kép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104" y="47687"/>
            <a:ext cx="745721" cy="723776"/>
          </a:xfrm>
          <a:prstGeom prst="rect">
            <a:avLst/>
          </a:prstGeom>
        </p:spPr>
      </p:pic>
      <p:sp>
        <p:nvSpPr>
          <p:cNvPr id="2" name="Szövegdoboz 1"/>
          <p:cNvSpPr txBox="1"/>
          <p:nvPr/>
        </p:nvSpPr>
        <p:spPr>
          <a:xfrm>
            <a:off x="3322060" y="24854"/>
            <a:ext cx="554788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Projekt bemutatása</a:t>
            </a:r>
          </a:p>
        </p:txBody>
      </p:sp>
      <p:sp>
        <p:nvSpPr>
          <p:cNvPr id="6" name="Szövegdoboz 5"/>
          <p:cNvSpPr txBox="1"/>
          <p:nvPr/>
        </p:nvSpPr>
        <p:spPr>
          <a:xfrm>
            <a:off x="61727" y="1670103"/>
            <a:ext cx="6335511" cy="378565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A Dózsa Csárda projekt célja, hogy megvalósítsunk egyszerű és felhasználóbarát online étel rendelési rendszert.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hu-HU" sz="2400" dirty="0">
              <a:solidFill>
                <a:schemeClr val="accent4">
                  <a:lumMod val="75000"/>
                </a:schemeClr>
              </a:solidFill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A Weboldalon teljesen egyedi rendeléseket készíthetsz, az 5 kategórián belüli választékok közül!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hu-HU" sz="2400" dirty="0">
              <a:solidFill>
                <a:schemeClr val="accent4">
                  <a:lumMod val="75000"/>
                </a:schemeClr>
              </a:solidFill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A Weboldalon csakis regisztráció, után, illetve bejelentkezéssel lehet rendelni. </a:t>
            </a:r>
          </a:p>
        </p:txBody>
      </p:sp>
      <p:pic>
        <p:nvPicPr>
          <p:cNvPr id="7" name="Kép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5699" y="993894"/>
            <a:ext cx="3947800" cy="2473552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8" name="Kép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5699" y="3781386"/>
            <a:ext cx="3947800" cy="2638888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490134746"/>
      </p:ext>
    </p:extLst>
  </p:cSld>
  <p:clrMapOvr>
    <a:masterClrMapping/>
  </p:clrMapOvr>
  <p:transition spd="med"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pic>
        <p:nvPicPr>
          <p:cNvPr id="3" name="Kép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104" y="47687"/>
            <a:ext cx="745721" cy="723776"/>
          </a:xfrm>
          <a:prstGeom prst="rect">
            <a:avLst/>
          </a:prstGeom>
        </p:spPr>
      </p:pic>
      <p:sp>
        <p:nvSpPr>
          <p:cNvPr id="2" name="Szövegdoboz 1"/>
          <p:cNvSpPr txBox="1"/>
          <p:nvPr/>
        </p:nvSpPr>
        <p:spPr>
          <a:xfrm>
            <a:off x="3443287" y="24854"/>
            <a:ext cx="530542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Fejleszt</a:t>
            </a:r>
            <a:r>
              <a:rPr lang="hu-HU" sz="4400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ő</a:t>
            </a:r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i környezet</a:t>
            </a:r>
          </a:p>
        </p:txBody>
      </p:sp>
      <p:pic>
        <p:nvPicPr>
          <p:cNvPr id="1026" name="Picture 2" descr="undefined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2964" y="1264346"/>
            <a:ext cx="1709738" cy="17097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Szövegdoboz 4">
            <a:extLst>
              <a:ext uri="{FF2B5EF4-FFF2-40B4-BE49-F238E27FC236}">
                <a16:creationId xmlns:a16="http://schemas.microsoft.com/office/drawing/2014/main" id="{81A0252E-27AE-4E33-B442-E4993C15E856}"/>
              </a:ext>
            </a:extLst>
          </p:cNvPr>
          <p:cNvSpPr txBox="1"/>
          <p:nvPr/>
        </p:nvSpPr>
        <p:spPr>
          <a:xfrm>
            <a:off x="2280839" y="1218892"/>
            <a:ext cx="5132719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Visual </a:t>
            </a:r>
            <a:r>
              <a:rPr lang="hu-HU" sz="2400" b="1" dirty="0" err="1">
                <a:solidFill>
                  <a:schemeClr val="accent4">
                    <a:lumMod val="75000"/>
                  </a:schemeClr>
                </a:solidFill>
              </a:rPr>
              <a:t>Studio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b="1" dirty="0" err="1">
                <a:solidFill>
                  <a:schemeClr val="accent4">
                    <a:lumMod val="75000"/>
                  </a:schemeClr>
                </a:solidFill>
              </a:rPr>
              <a:t>Code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(VSC)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 Egy Integrált Fejlesztői Környezet(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Integrated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Development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Enviroment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), amiben a szerver, illetve a frontend(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html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,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css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,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javascript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) is készült.</a:t>
            </a:r>
          </a:p>
        </p:txBody>
      </p:sp>
      <p:sp>
        <p:nvSpPr>
          <p:cNvPr id="8" name="Szövegdoboz 7">
            <a:extLst>
              <a:ext uri="{FF2B5EF4-FFF2-40B4-BE49-F238E27FC236}">
                <a16:creationId xmlns:a16="http://schemas.microsoft.com/office/drawing/2014/main" id="{9DBC5AD3-A244-47DE-9DDF-DEF316BF5867}"/>
              </a:ext>
            </a:extLst>
          </p:cNvPr>
          <p:cNvSpPr txBox="1"/>
          <p:nvPr/>
        </p:nvSpPr>
        <p:spPr>
          <a:xfrm>
            <a:off x="2280839" y="4180344"/>
            <a:ext cx="427295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Visual </a:t>
            </a:r>
            <a:r>
              <a:rPr lang="hu-HU" sz="2400" b="1" dirty="0" err="1">
                <a:solidFill>
                  <a:schemeClr val="accent4">
                    <a:lumMod val="75000"/>
                  </a:schemeClr>
                </a:solidFill>
              </a:rPr>
              <a:t>Studio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(VS): 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Egy IDE, mely segítségével a WPF, adminisztratív felületét készítettük el.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7A4ACDEF-306B-49A4-86F8-78EF8203A3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7069" y="1890879"/>
            <a:ext cx="4646987" cy="3387704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702753272"/>
      </p:ext>
    </p:extLst>
  </p:cSld>
  <p:clrMapOvr>
    <a:masterClrMapping/>
  </p:clrMapOvr>
  <p:transition spd="med">
    <p:pull/>
  </p:transition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pic>
        <p:nvPicPr>
          <p:cNvPr id="3" name="Kép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104" y="47687"/>
            <a:ext cx="745721" cy="723776"/>
          </a:xfrm>
          <a:prstGeom prst="rect">
            <a:avLst/>
          </a:prstGeom>
        </p:spPr>
      </p:pic>
      <p:sp>
        <p:nvSpPr>
          <p:cNvPr id="2" name="Szövegdoboz 1"/>
          <p:cNvSpPr txBox="1"/>
          <p:nvPr/>
        </p:nvSpPr>
        <p:spPr>
          <a:xfrm>
            <a:off x="3443287" y="24854"/>
            <a:ext cx="530542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Fejleszt</a:t>
            </a:r>
            <a:r>
              <a:rPr lang="hu-HU" sz="4400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ő</a:t>
            </a:r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i környezet</a:t>
            </a:r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81A0252E-27AE-4E33-B442-E4993C15E856}"/>
              </a:ext>
            </a:extLst>
          </p:cNvPr>
          <p:cNvSpPr txBox="1"/>
          <p:nvPr/>
        </p:nvSpPr>
        <p:spPr>
          <a:xfrm>
            <a:off x="1925354" y="1324020"/>
            <a:ext cx="513271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HTML5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 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W</a:t>
            </a:r>
            <a:r>
              <a:rPr lang="hu-HU" sz="2400" dirty="0" smtClean="0">
                <a:solidFill>
                  <a:schemeClr val="accent4">
                    <a:lumMod val="75000"/>
                  </a:schemeClr>
                </a:solidFill>
              </a:rPr>
              <a:t>eblap 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készítő nyelv, mely segítségével a weboldal vázát </a:t>
            </a:r>
            <a:r>
              <a:rPr lang="hu-HU" sz="2400" dirty="0" smtClean="0">
                <a:solidFill>
                  <a:schemeClr val="accent4">
                    <a:lumMod val="75000"/>
                  </a:schemeClr>
                </a:solidFill>
              </a:rPr>
              <a:t>készítettük.</a:t>
            </a:r>
            <a:endParaRPr lang="hu-HU" sz="24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8" name="Szövegdoboz 7">
            <a:extLst>
              <a:ext uri="{FF2B5EF4-FFF2-40B4-BE49-F238E27FC236}">
                <a16:creationId xmlns:a16="http://schemas.microsoft.com/office/drawing/2014/main" id="{9DBC5AD3-A244-47DE-9DDF-DEF316BF5867}"/>
              </a:ext>
            </a:extLst>
          </p:cNvPr>
          <p:cNvSpPr txBox="1"/>
          <p:nvPr/>
        </p:nvSpPr>
        <p:spPr>
          <a:xfrm>
            <a:off x="1925354" y="3003272"/>
            <a:ext cx="427295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CSS3: </a:t>
            </a:r>
            <a:r>
              <a:rPr lang="hu-HU" sz="2400" dirty="0" smtClean="0">
                <a:solidFill>
                  <a:schemeClr val="accent4">
                    <a:lumMod val="75000"/>
                  </a:schemeClr>
                </a:solidFill>
              </a:rPr>
              <a:t>Stíluskezelő 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nyelv, mely segítségével a weboldal kinézetét alkottuk meg.</a:t>
            </a:r>
          </a:p>
        </p:txBody>
      </p:sp>
      <p:sp>
        <p:nvSpPr>
          <p:cNvPr id="9" name="Szövegdoboz 8">
            <a:extLst>
              <a:ext uri="{FF2B5EF4-FFF2-40B4-BE49-F238E27FC236}">
                <a16:creationId xmlns:a16="http://schemas.microsoft.com/office/drawing/2014/main" id="{DC408D15-66A1-4A4A-851B-EADA0E36EFB9}"/>
              </a:ext>
            </a:extLst>
          </p:cNvPr>
          <p:cNvSpPr txBox="1"/>
          <p:nvPr/>
        </p:nvSpPr>
        <p:spPr>
          <a:xfrm>
            <a:off x="1925354" y="4708388"/>
            <a:ext cx="427295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JavaScript: 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O</a:t>
            </a:r>
            <a:r>
              <a:rPr lang="hu-HU" sz="2400" dirty="0" smtClean="0">
                <a:solidFill>
                  <a:schemeClr val="accent4">
                    <a:lumMod val="75000"/>
                  </a:schemeClr>
                </a:solidFill>
              </a:rPr>
              <a:t>lyan 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nyelv, mely segítségével a weboldalt dinamikussá tettük, illetve eseményeit </a:t>
            </a:r>
            <a:r>
              <a:rPr lang="hu-HU" sz="2400" dirty="0" smtClean="0">
                <a:solidFill>
                  <a:schemeClr val="accent4">
                    <a:lumMod val="75000"/>
                  </a:schemeClr>
                </a:solidFill>
              </a:rPr>
              <a:t>kezeltük.</a:t>
            </a:r>
            <a:endParaRPr lang="hu-HU" sz="2400" dirty="0">
              <a:solidFill>
                <a:schemeClr val="accent4">
                  <a:lumMod val="75000"/>
                </a:schemeClr>
              </a:solidFill>
            </a:endParaRPr>
          </a:p>
        </p:txBody>
      </p:sp>
      <p:pic>
        <p:nvPicPr>
          <p:cNvPr id="1026" name="Picture 2" descr="undefined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1311" y="1098911"/>
            <a:ext cx="1584043" cy="1584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undefined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5240" y="2970021"/>
            <a:ext cx="1356187" cy="13561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undefined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7954" y="4675137"/>
            <a:ext cx="1530761" cy="15307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Kép 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10106" y="1098911"/>
            <a:ext cx="2109967" cy="5582857"/>
          </a:xfrm>
          <a:prstGeom prst="rect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26778464"/>
      </p:ext>
    </p:extLst>
  </p:cSld>
  <p:clrMapOvr>
    <a:masterClrMapping/>
  </p:clrMapOvr>
  <p:transition spd="med">
    <p:pull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pic>
        <p:nvPicPr>
          <p:cNvPr id="3" name="Kép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104" y="47687"/>
            <a:ext cx="745721" cy="723776"/>
          </a:xfrm>
          <a:prstGeom prst="rect">
            <a:avLst/>
          </a:prstGeom>
        </p:spPr>
      </p:pic>
      <p:sp>
        <p:nvSpPr>
          <p:cNvPr id="2" name="Szövegdoboz 1"/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Csoportmunkai környezet</a:t>
            </a:r>
          </a:p>
        </p:txBody>
      </p:sp>
      <p:pic>
        <p:nvPicPr>
          <p:cNvPr id="5" name="Picture 2" descr="undefined">
            <a:extLst>
              <a:ext uri="{FF2B5EF4-FFF2-40B4-BE49-F238E27FC236}">
                <a16:creationId xmlns:a16="http://schemas.microsoft.com/office/drawing/2014/main" id="{E6A87C9D-5229-4363-95A2-B453ADD8C8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043" y="1026546"/>
            <a:ext cx="1761990" cy="1761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undefined">
            <a:extLst>
              <a:ext uri="{FF2B5EF4-FFF2-40B4-BE49-F238E27FC236}">
                <a16:creationId xmlns:a16="http://schemas.microsoft.com/office/drawing/2014/main" id="{98EB6905-9258-4241-9966-9E93D7FBF1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7140" y="4035422"/>
            <a:ext cx="3534749" cy="14884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Szövegdoboz 8">
            <a:extLst>
              <a:ext uri="{FF2B5EF4-FFF2-40B4-BE49-F238E27FC236}">
                <a16:creationId xmlns:a16="http://schemas.microsoft.com/office/drawing/2014/main" id="{D84E1BB5-C09F-466B-8C1B-51040ABBF068}"/>
              </a:ext>
            </a:extLst>
          </p:cNvPr>
          <p:cNvSpPr txBox="1"/>
          <p:nvPr/>
        </p:nvSpPr>
        <p:spPr>
          <a:xfrm>
            <a:off x="2493033" y="1475858"/>
            <a:ext cx="513271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GitHub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 Verziókezelő webes, vagy asztali alkalmazás, mely egy felhőként funkcionált számunkra</a:t>
            </a:r>
          </a:p>
        </p:txBody>
      </p:sp>
      <p:sp>
        <p:nvSpPr>
          <p:cNvPr id="10" name="Szövegdoboz 9">
            <a:extLst>
              <a:ext uri="{FF2B5EF4-FFF2-40B4-BE49-F238E27FC236}">
                <a16:creationId xmlns:a16="http://schemas.microsoft.com/office/drawing/2014/main" id="{34D1C51D-087B-4BD8-9089-BE6663110493}"/>
              </a:ext>
            </a:extLst>
          </p:cNvPr>
          <p:cNvSpPr txBox="1"/>
          <p:nvPr/>
        </p:nvSpPr>
        <p:spPr>
          <a:xfrm>
            <a:off x="4142095" y="4450991"/>
            <a:ext cx="395518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 err="1">
                <a:solidFill>
                  <a:schemeClr val="accent4">
                    <a:lumMod val="75000"/>
                  </a:schemeClr>
                </a:solidFill>
              </a:rPr>
              <a:t>Jira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 Projektmenedzsment weboldal, melyben </a:t>
            </a:r>
            <a:r>
              <a:rPr lang="hu-HU" sz="2400" dirty="0" smtClean="0">
                <a:solidFill>
                  <a:schemeClr val="accent4">
                    <a:lumMod val="75000"/>
                  </a:schemeClr>
                </a:solidFill>
              </a:rPr>
              <a:t>követhetővé 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tettük a projekt egyes részfeladatait.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F0C82B73-4864-4368-BAF3-2042C6A647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97277" y="3905842"/>
            <a:ext cx="3912351" cy="2823875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6189322B-B141-438C-A937-984069E8432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97277" y="1090846"/>
            <a:ext cx="3912351" cy="2432017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003293117"/>
      </p:ext>
    </p:extLst>
  </p:cSld>
  <p:clrMapOvr>
    <a:masterClrMapping/>
  </p:clrMapOvr>
  <p:transition spd="med">
    <p:pull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pic>
        <p:nvPicPr>
          <p:cNvPr id="3" name="Kép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104" y="47687"/>
            <a:ext cx="745721" cy="723776"/>
          </a:xfrm>
          <a:prstGeom prst="rect">
            <a:avLst/>
          </a:prstGeom>
        </p:spPr>
      </p:pic>
      <p:sp>
        <p:nvSpPr>
          <p:cNvPr id="2" name="Szövegdoboz 1"/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Csomagkezel</a:t>
            </a:r>
            <a:r>
              <a:rPr lang="hu-HU" sz="4400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ő</a:t>
            </a:r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k</a:t>
            </a:r>
          </a:p>
        </p:txBody>
      </p:sp>
      <p:sp>
        <p:nvSpPr>
          <p:cNvPr id="9" name="Szövegdoboz 8">
            <a:extLst>
              <a:ext uri="{FF2B5EF4-FFF2-40B4-BE49-F238E27FC236}">
                <a16:creationId xmlns:a16="http://schemas.microsoft.com/office/drawing/2014/main" id="{D84E1BB5-C09F-466B-8C1B-51040ABBF068}"/>
              </a:ext>
            </a:extLst>
          </p:cNvPr>
          <p:cNvSpPr txBox="1"/>
          <p:nvPr/>
        </p:nvSpPr>
        <p:spPr>
          <a:xfrm>
            <a:off x="3840050" y="1585575"/>
            <a:ext cx="408198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 err="1">
                <a:solidFill>
                  <a:schemeClr val="accent4">
                    <a:lumMod val="75000"/>
                  </a:schemeClr>
                </a:solidFill>
              </a:rPr>
              <a:t>Node.Js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 A </a:t>
            </a:r>
            <a:r>
              <a:rPr lang="hu-HU" sz="2400" dirty="0" smtClean="0">
                <a:solidFill>
                  <a:schemeClr val="accent4">
                    <a:lumMod val="75000"/>
                  </a:schemeClr>
                </a:solidFill>
              </a:rPr>
              <a:t>JavaScript csomagkezelője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, mely segítségével a Backend Szerverhez szükséges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module-okat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töltöttük le.</a:t>
            </a:r>
            <a:br>
              <a:rPr lang="hu-HU" sz="2400" dirty="0">
                <a:solidFill>
                  <a:schemeClr val="accent4">
                    <a:lumMod val="75000"/>
                  </a:schemeClr>
                </a:solidFill>
              </a:rPr>
            </a:b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pl.: Express,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stb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…</a:t>
            </a:r>
          </a:p>
        </p:txBody>
      </p:sp>
      <p:pic>
        <p:nvPicPr>
          <p:cNvPr id="11" name="Picture 8" descr="undefined">
            <a:extLst>
              <a:ext uri="{FF2B5EF4-FFF2-40B4-BE49-F238E27FC236}">
                <a16:creationId xmlns:a16="http://schemas.microsoft.com/office/drawing/2014/main" id="{8E24AF5A-E0C2-4BBC-8625-76CB77005C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4312" y="4111624"/>
            <a:ext cx="3445737" cy="11630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Szövegdoboz 11">
            <a:extLst>
              <a:ext uri="{FF2B5EF4-FFF2-40B4-BE49-F238E27FC236}">
                <a16:creationId xmlns:a16="http://schemas.microsoft.com/office/drawing/2014/main" id="{6817D205-F060-4773-96FB-315513351D94}"/>
              </a:ext>
            </a:extLst>
          </p:cNvPr>
          <p:cNvSpPr txBox="1"/>
          <p:nvPr/>
        </p:nvSpPr>
        <p:spPr>
          <a:xfrm>
            <a:off x="3840049" y="4093733"/>
            <a:ext cx="4272954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XAMPP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Platfromfüggetlen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,  adatbázis csomagkezelő, melyben mi az SQL(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MariaDB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) nyelvet használtuk, vizuális megjelenítésnek pedig az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Apache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szerveren a PHP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My-Admint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.</a:t>
            </a:r>
          </a:p>
        </p:txBody>
      </p:sp>
      <p:pic>
        <p:nvPicPr>
          <p:cNvPr id="13" name="Kép 12">
            <a:extLst>
              <a:ext uri="{FF2B5EF4-FFF2-40B4-BE49-F238E27FC236}">
                <a16:creationId xmlns:a16="http://schemas.microsoft.com/office/drawing/2014/main" id="{831EE051-4F6D-4828-960D-A945462CBB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21292" y="4093733"/>
            <a:ext cx="3655248" cy="2361937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2050" name="Picture 2" descr="undefined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5761" y="1491070"/>
            <a:ext cx="3474288" cy="21280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Kép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49373" y="1393564"/>
            <a:ext cx="4127167" cy="1942776"/>
          </a:xfrm>
          <a:prstGeom prst="rect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390332418"/>
      </p:ext>
    </p:extLst>
  </p:cSld>
  <p:clrMapOvr>
    <a:masterClrMapping/>
  </p:clrMapOvr>
  <p:transition spd="med">
    <p:pull/>
  </p:transition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pic>
        <p:nvPicPr>
          <p:cNvPr id="3" name="Kép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104" y="47687"/>
            <a:ext cx="745721" cy="723776"/>
          </a:xfrm>
          <a:prstGeom prst="rect">
            <a:avLst/>
          </a:prstGeom>
        </p:spPr>
      </p:pic>
      <p:sp>
        <p:nvSpPr>
          <p:cNvPr id="2" name="Szövegdoboz 1"/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Programozási Nyelvek</a:t>
            </a:r>
          </a:p>
        </p:txBody>
      </p:sp>
      <p:sp>
        <p:nvSpPr>
          <p:cNvPr id="9" name="Szövegdoboz 8">
            <a:extLst>
              <a:ext uri="{FF2B5EF4-FFF2-40B4-BE49-F238E27FC236}">
                <a16:creationId xmlns:a16="http://schemas.microsoft.com/office/drawing/2014/main" id="{D84E1BB5-C09F-466B-8C1B-51040ABBF068}"/>
              </a:ext>
            </a:extLst>
          </p:cNvPr>
          <p:cNvSpPr txBox="1"/>
          <p:nvPr/>
        </p:nvSpPr>
        <p:spPr>
          <a:xfrm>
            <a:off x="3100649" y="1856659"/>
            <a:ext cx="397348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C</a:t>
            </a:r>
            <a:r>
              <a:rPr lang="hu-HU" sz="2400" b="1" dirty="0" smtClean="0">
                <a:solidFill>
                  <a:schemeClr val="accent4">
                    <a:lumMod val="75000"/>
                  </a:schemeClr>
                </a:solidFill>
              </a:rPr>
              <a:t>#</a:t>
            </a:r>
            <a:r>
              <a:rPr lang="hu-HU" sz="2400" dirty="0" smtClean="0">
                <a:solidFill>
                  <a:schemeClr val="accent4">
                    <a:lumMod val="75000"/>
                  </a:schemeClr>
                </a:solidFill>
              </a:rPr>
              <a:t>: Objektumorientált programozási nyelv. A WPF nyíltforrású felhasználói felület keretrendszert használtuk projektünk adatbázis kezelésére is.</a:t>
            </a:r>
            <a:endParaRPr lang="hu-HU" sz="2400" dirty="0">
              <a:solidFill>
                <a:schemeClr val="accent4">
                  <a:lumMod val="75000"/>
                </a:schemeClr>
              </a:solidFill>
            </a:endParaRPr>
          </a:p>
        </p:txBody>
      </p:sp>
      <p:pic>
        <p:nvPicPr>
          <p:cNvPr id="3074" name="Picture 2" descr="undefined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7016" y="1157782"/>
            <a:ext cx="2853632" cy="28536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36090025"/>
      </p:ext>
    </p:extLst>
  </p:cSld>
  <p:clrMapOvr>
    <a:masterClrMapping/>
  </p:clrMapOvr>
  <p:transition spd="med">
    <p:pull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pic>
        <p:nvPicPr>
          <p:cNvPr id="3" name="Kép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104" y="47687"/>
            <a:ext cx="745721" cy="723776"/>
          </a:xfrm>
          <a:prstGeom prst="rect">
            <a:avLst/>
          </a:prstGeom>
        </p:spPr>
      </p:pic>
      <p:sp>
        <p:nvSpPr>
          <p:cNvPr id="2" name="Szövegdoboz 1"/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Tesztelési eszközök</a:t>
            </a:r>
          </a:p>
        </p:txBody>
      </p:sp>
      <p:sp>
        <p:nvSpPr>
          <p:cNvPr id="9" name="Szövegdoboz 8">
            <a:extLst>
              <a:ext uri="{FF2B5EF4-FFF2-40B4-BE49-F238E27FC236}">
                <a16:creationId xmlns:a16="http://schemas.microsoft.com/office/drawing/2014/main" id="{D84E1BB5-C09F-466B-8C1B-51040ABBF068}"/>
              </a:ext>
            </a:extLst>
          </p:cNvPr>
          <p:cNvSpPr txBox="1"/>
          <p:nvPr/>
        </p:nvSpPr>
        <p:spPr>
          <a:xfrm>
            <a:off x="3125579" y="1199955"/>
            <a:ext cx="513271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Postman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Egy olyan asztali alkalmazás, mely segítségével a REST API, végpontokat tudtuk tesztelni,</a:t>
            </a:r>
            <a:br>
              <a:rPr lang="hu-HU" sz="2400" dirty="0">
                <a:solidFill>
                  <a:schemeClr val="accent4">
                    <a:lumMod val="75000"/>
                  </a:schemeClr>
                </a:solidFill>
              </a:rPr>
            </a:b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A CRUD műveletek alapján.</a:t>
            </a:r>
          </a:p>
        </p:txBody>
      </p:sp>
      <p:sp>
        <p:nvSpPr>
          <p:cNvPr id="12" name="Szövegdoboz 11">
            <a:extLst>
              <a:ext uri="{FF2B5EF4-FFF2-40B4-BE49-F238E27FC236}">
                <a16:creationId xmlns:a16="http://schemas.microsoft.com/office/drawing/2014/main" id="{6817D205-F060-4773-96FB-315513351D94}"/>
              </a:ext>
            </a:extLst>
          </p:cNvPr>
          <p:cNvSpPr txBox="1"/>
          <p:nvPr/>
        </p:nvSpPr>
        <p:spPr>
          <a:xfrm>
            <a:off x="395837" y="3266901"/>
            <a:ext cx="5459484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Manuális </a:t>
            </a:r>
            <a:r>
              <a:rPr lang="hu-HU" sz="2400" b="1" dirty="0" smtClean="0">
                <a:solidFill>
                  <a:schemeClr val="accent4">
                    <a:lumMod val="75000"/>
                  </a:schemeClr>
                </a:solidFill>
              </a:rPr>
              <a:t>Teszt</a:t>
            </a:r>
            <a:r>
              <a:rPr lang="hu-HU" sz="2400" dirty="0" smtClean="0">
                <a:solidFill>
                  <a:schemeClr val="accent4">
                    <a:lumMod val="75000"/>
                  </a:schemeClr>
                </a:solidFill>
              </a:rPr>
              <a:t>: 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A</a:t>
            </a:r>
            <a:r>
              <a:rPr lang="hu-HU" sz="2400" dirty="0" smtClean="0">
                <a:solidFill>
                  <a:schemeClr val="accent4">
                    <a:lumMod val="75000"/>
                  </a:schemeClr>
                </a:solidFill>
              </a:rPr>
              <a:t>utomatizált 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eszközök nélkül, a végfelhasználó szerepét felvéve keresnek hibákat, hiányosságokat a </a:t>
            </a:r>
            <a:r>
              <a:rPr lang="hu-HU" sz="2400" dirty="0" smtClean="0">
                <a:solidFill>
                  <a:schemeClr val="accent4">
                    <a:lumMod val="75000"/>
                  </a:schemeClr>
                </a:solidFill>
              </a:rPr>
              <a:t>rendszerben.</a:t>
            </a:r>
            <a:endParaRPr lang="hu-HU" sz="2400" dirty="0">
              <a:solidFill>
                <a:schemeClr val="accent4">
                  <a:lumMod val="75000"/>
                </a:schemeClr>
              </a:solidFill>
            </a:endParaRPr>
          </a:p>
          <a:p>
            <a:endParaRPr lang="hu-HU" sz="2400" dirty="0">
              <a:solidFill>
                <a:schemeClr val="accent4">
                  <a:lumMod val="75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Unit </a:t>
            </a:r>
            <a:r>
              <a:rPr lang="hu-HU" sz="2400" b="1" dirty="0" smtClean="0">
                <a:solidFill>
                  <a:schemeClr val="accent4">
                    <a:lumMod val="75000"/>
                  </a:schemeClr>
                </a:solidFill>
              </a:rPr>
              <a:t>Teszt</a:t>
            </a:r>
            <a:r>
              <a:rPr lang="hu-HU" sz="2400" dirty="0" smtClean="0">
                <a:solidFill>
                  <a:schemeClr val="accent4">
                    <a:lumMod val="75000"/>
                  </a:schemeClr>
                </a:solidFill>
              </a:rPr>
              <a:t>: Egységteszt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, </a:t>
            </a:r>
            <a:r>
              <a:rPr lang="hu-HU" sz="2400" dirty="0" smtClean="0">
                <a:solidFill>
                  <a:schemeClr val="accent4">
                    <a:lumMod val="75000"/>
                  </a:schemeClr>
                </a:solidFill>
              </a:rPr>
              <a:t>mely a program egy adott egységét(pl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.: Függvény</a:t>
            </a:r>
            <a:r>
              <a:rPr lang="hu-HU" sz="2400" dirty="0" smtClean="0">
                <a:solidFill>
                  <a:schemeClr val="accent4">
                    <a:lumMod val="75000"/>
                  </a:schemeClr>
                </a:solidFill>
              </a:rPr>
              <a:t>) ellenőrzi.</a:t>
            </a:r>
            <a:endParaRPr lang="hu-HU" sz="2400" dirty="0">
              <a:solidFill>
                <a:schemeClr val="accent4">
                  <a:lumMod val="75000"/>
                </a:schemeClr>
              </a:solidFill>
            </a:endParaRPr>
          </a:p>
        </p:txBody>
      </p:sp>
      <p:pic>
        <p:nvPicPr>
          <p:cNvPr id="4098" name="Picture 2" descr="https://upload.wikimedia.org/wikipedia/commons/c/c2/Postman_%28software%29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104" y="1497752"/>
            <a:ext cx="3209548" cy="9740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REST Client | Postman API Platform [Free Download]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58298" y="1059375"/>
            <a:ext cx="3859931" cy="2573287"/>
          </a:xfrm>
          <a:prstGeom prst="rect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06295488"/>
      </p:ext>
    </p:extLst>
  </p:cSld>
  <p:clrMapOvr>
    <a:masterClrMapping/>
  </p:clrMapOvr>
  <p:transition spd="med">
    <p:pull/>
  </p:transition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>
            <a:lumMod val="60000"/>
            <a:lumOff val="40000"/>
          </a:schemeClr>
        </a:solidFill>
        <a:ln>
          <a:noFill/>
        </a:ln>
      </a:spPr>
      <a:bodyPr rtlCol="0" anchor="ctr"/>
      <a:lstStyle>
        <a:defPPr algn="ctr">
          <a:defRPr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150</TotalTime>
  <Words>284</Words>
  <Application>Microsoft Office PowerPoint</Application>
  <PresentationFormat>Szélesvásznú</PresentationFormat>
  <Paragraphs>30</Paragraphs>
  <Slides>8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8</vt:i4>
      </vt:variant>
    </vt:vector>
  </HeadingPairs>
  <TitlesOfParts>
    <vt:vector size="13" baseType="lpstr">
      <vt:lpstr>Arial</vt:lpstr>
      <vt:lpstr>Calibri</vt:lpstr>
      <vt:lpstr>Calibri Light</vt:lpstr>
      <vt:lpstr>Ink Free</vt:lpstr>
      <vt:lpstr>Office-téma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PowerPoint-bemutató</dc:title>
  <dc:creator>Geforce</dc:creator>
  <cp:lastModifiedBy>Geforce</cp:lastModifiedBy>
  <cp:revision>83</cp:revision>
  <dcterms:created xsi:type="dcterms:W3CDTF">2026-01-18T17:12:36Z</dcterms:created>
  <dcterms:modified xsi:type="dcterms:W3CDTF">2026-01-24T18:18:55Z</dcterms:modified>
</cp:coreProperties>
</file>