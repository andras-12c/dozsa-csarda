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7285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97356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09682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8298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9402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34110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17402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450221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88113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848081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14679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0193E8-478D-464D-8400-8CD4306FD776}" type="datetimeFigureOut">
              <a:rPr lang="hu-HU" smtClean="0"/>
              <a:t>2026. 01. 24.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CD524C-B61E-4D76-854C-071B454BA76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7029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5" name="Kép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2029" y="904378"/>
            <a:ext cx="3967942" cy="3851174"/>
          </a:xfrm>
          <a:prstGeom prst="rect">
            <a:avLst/>
          </a:prstGeom>
          <a:effectLst/>
        </p:spPr>
      </p:pic>
      <p:sp>
        <p:nvSpPr>
          <p:cNvPr id="6" name="Szövegdoboz 5"/>
          <p:cNvSpPr txBox="1"/>
          <p:nvPr/>
        </p:nvSpPr>
        <p:spPr>
          <a:xfrm>
            <a:off x="2841566" y="4840780"/>
            <a:ext cx="65088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6600" b="1" dirty="0">
                <a:gradFill>
                  <a:gsLst>
                    <a:gs pos="0">
                      <a:schemeClr val="accent4"/>
                    </a:gs>
                    <a:gs pos="100000">
                      <a:schemeClr val="accent4">
                        <a:lumMod val="75000"/>
                      </a:schemeClr>
                    </a:gs>
                  </a:gsLst>
                  <a:lin ang="5400000" scaled="1"/>
                </a:gradFill>
                <a:effectLst>
                  <a:outerShdw sx="97000" sy="97000" algn="ctr" rotWithShape="0">
                    <a:schemeClr val="accent1">
                      <a:lumMod val="20000"/>
                      <a:lumOff val="80000"/>
                    </a:schemeClr>
                  </a:outerShdw>
                </a:effectLst>
                <a:latin typeface="Ink Free" panose="03080402000500000000" pitchFamily="66" charset="0"/>
              </a:rPr>
              <a:t>DÓZSA CSÁRDA</a:t>
            </a:r>
          </a:p>
        </p:txBody>
      </p:sp>
      <p:sp>
        <p:nvSpPr>
          <p:cNvPr id="7" name="Szövegdoboz 6"/>
          <p:cNvSpPr txBox="1"/>
          <p:nvPr/>
        </p:nvSpPr>
        <p:spPr>
          <a:xfrm>
            <a:off x="85725" y="5743575"/>
            <a:ext cx="23050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Pálosi András</a:t>
            </a:r>
          </a:p>
          <a:p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Pongrácz Gábor</a:t>
            </a:r>
          </a:p>
          <a:p>
            <a:r>
              <a:rPr lang="hu-HU" dirty="0">
                <a:solidFill>
                  <a:schemeClr val="accent4">
                    <a:lumMod val="75000"/>
                  </a:schemeClr>
                </a:solidFill>
              </a:rPr>
              <a:t>Farkas Bence</a:t>
            </a:r>
          </a:p>
        </p:txBody>
      </p:sp>
    </p:spTree>
    <p:extLst>
      <p:ext uri="{BB962C8B-B14F-4D97-AF65-F5344CB8AC3E}">
        <p14:creationId xmlns:p14="http://schemas.microsoft.com/office/powerpoint/2010/main" val="2391259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3322060" y="24854"/>
            <a:ext cx="55478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Project </a:t>
            </a:r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indrotuction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6" name="Szövegdoboz 5"/>
          <p:cNvSpPr txBox="1"/>
          <p:nvPr/>
        </p:nvSpPr>
        <p:spPr>
          <a:xfrm>
            <a:off x="61727" y="1854769"/>
            <a:ext cx="6335511" cy="34163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The „Dózsa Csárda”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project’s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goal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accomplish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an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easy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and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friendly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food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delivery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system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You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can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create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unique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orders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from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5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categories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website!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Orders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are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only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accessible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upon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registration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website.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" name="Kép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5699" y="993894"/>
            <a:ext cx="3947800" cy="2473552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8" name="Kép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699" y="3781386"/>
            <a:ext cx="3947800" cy="2638888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90134746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788443" y="47687"/>
            <a:ext cx="66151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Development</a:t>
            </a:r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 </a:t>
            </a:r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environment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964" y="1264346"/>
            <a:ext cx="1709738" cy="1709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2280839" y="1218892"/>
            <a:ext cx="513271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Code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(VSC)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An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Integrated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Development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Environment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in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which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server and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frontend (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html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css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javascript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)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were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created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2280839" y="4180344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Visual </a:t>
            </a: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Studio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(VS):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An IDE,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which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create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administrative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interface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of WPF.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A4ACDEF-306B-49A4-86F8-78EF8203A3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7069" y="1890879"/>
            <a:ext cx="4646987" cy="3387704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2753272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948864" y="32084"/>
            <a:ext cx="62942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Development</a:t>
            </a:r>
            <a:r>
              <a:rPr lang="hu-HU" sz="4400" b="1" dirty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 </a:t>
            </a:r>
            <a:r>
              <a:rPr lang="hu-HU" sz="4400" b="1" dirty="0" err="1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environment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5" name="Szövegdoboz 4">
            <a:extLst>
              <a:ext uri="{FF2B5EF4-FFF2-40B4-BE49-F238E27FC236}">
                <a16:creationId xmlns:a16="http://schemas.microsoft.com/office/drawing/2014/main" id="{81A0252E-27AE-4E33-B442-E4993C15E856}"/>
              </a:ext>
            </a:extLst>
          </p:cNvPr>
          <p:cNvSpPr txBox="1"/>
          <p:nvPr/>
        </p:nvSpPr>
        <p:spPr>
          <a:xfrm>
            <a:off x="1925354" y="1324020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HTML5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A web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page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creation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language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which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create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framework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of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website.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8" name="Szövegdoboz 7">
            <a:extLst>
              <a:ext uri="{FF2B5EF4-FFF2-40B4-BE49-F238E27FC236}">
                <a16:creationId xmlns:a16="http://schemas.microsoft.com/office/drawing/2014/main" id="{9DBC5AD3-A244-47DE-9DDF-DEF316BF5867}"/>
              </a:ext>
            </a:extLst>
          </p:cNvPr>
          <p:cNvSpPr txBox="1"/>
          <p:nvPr/>
        </p:nvSpPr>
        <p:spPr>
          <a:xfrm>
            <a:off x="1925354" y="3003272"/>
            <a:ext cx="427295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CSS3: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A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style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managment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language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that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create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interface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of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website.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C408D15-66A1-4A4A-851B-EADA0E36EFB9}"/>
              </a:ext>
            </a:extLst>
          </p:cNvPr>
          <p:cNvSpPr txBox="1"/>
          <p:nvPr/>
        </p:nvSpPr>
        <p:spPr>
          <a:xfrm>
            <a:off x="1925354" y="4708388"/>
            <a:ext cx="42729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JavaScript: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A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language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make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website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dynamic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and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manage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It’s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events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026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311" y="1098911"/>
            <a:ext cx="1584043" cy="1584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240" y="2970021"/>
            <a:ext cx="1356187" cy="13561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define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954" y="4675137"/>
            <a:ext cx="1530761" cy="153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0106" y="1098911"/>
            <a:ext cx="2109967" cy="5582857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6778464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Group </a:t>
            </a:r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work</a:t>
            </a:r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 </a:t>
            </a:r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environment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E6A87C9D-5229-4363-95A2-B453ADD8C8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043" y="1026546"/>
            <a:ext cx="1761990" cy="176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defined">
            <a:extLst>
              <a:ext uri="{FF2B5EF4-FFF2-40B4-BE49-F238E27FC236}">
                <a16:creationId xmlns:a16="http://schemas.microsoft.com/office/drawing/2014/main" id="{98EB6905-9258-4241-9966-9E93D7FBF1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40" y="4035422"/>
            <a:ext cx="3534749" cy="1488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2493033" y="1475858"/>
            <a:ext cx="51327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GitHub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Version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managment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web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desktrop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application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that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functioned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a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cloud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for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34D1C51D-087B-4BD8-9089-BE6663110493}"/>
              </a:ext>
            </a:extLst>
          </p:cNvPr>
          <p:cNvSpPr txBox="1"/>
          <p:nvPr/>
        </p:nvSpPr>
        <p:spPr>
          <a:xfrm>
            <a:off x="4142095" y="4450991"/>
            <a:ext cx="395518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Jira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Project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managment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website,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where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 made it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possible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track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individual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subtasks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of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project.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F0C82B73-4864-4368-BAF3-2042C6A647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7277" y="3905842"/>
            <a:ext cx="3912351" cy="2823875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189322B-B141-438C-A937-984069E843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7277" y="1090846"/>
            <a:ext cx="3912351" cy="243201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03293117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Package</a:t>
            </a:r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 </a:t>
            </a:r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managers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840050" y="1585575"/>
            <a:ext cx="408198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>
                <a:solidFill>
                  <a:schemeClr val="accent4">
                    <a:lumMod val="75000"/>
                  </a:schemeClr>
                </a:solidFill>
              </a:rPr>
              <a:t>Node.Js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The JavaScript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package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manager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whic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h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download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modules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required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for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Backend Server.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e.g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.: Express,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etc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…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1" name="Picture 8" descr="undefined">
            <a:extLst>
              <a:ext uri="{FF2B5EF4-FFF2-40B4-BE49-F238E27FC236}">
                <a16:creationId xmlns:a16="http://schemas.microsoft.com/office/drawing/2014/main" id="{8E24AF5A-E0C2-4BBC-8625-76CB77005C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12" y="4111624"/>
            <a:ext cx="3445737" cy="11630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840049" y="4093733"/>
            <a:ext cx="427295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XAMPP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A platform-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independent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database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package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manager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in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which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we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SQL(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MariaDB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)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language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and PHP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My-Admin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for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visual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display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Apache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server.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13" name="Kép 12">
            <a:extLst>
              <a:ext uri="{FF2B5EF4-FFF2-40B4-BE49-F238E27FC236}">
                <a16:creationId xmlns:a16="http://schemas.microsoft.com/office/drawing/2014/main" id="{831EE051-4F6D-4828-960D-A945462CBB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292" y="4093733"/>
            <a:ext cx="3655248" cy="2361937"/>
          </a:xfrm>
          <a:prstGeom prst="rect">
            <a:avLst/>
          </a:prstGeom>
          <a:ln w="38100">
            <a:solidFill>
              <a:schemeClr val="accent1">
                <a:lumMod val="40000"/>
                <a:lumOff val="60000"/>
              </a:schemeClr>
            </a:solidFill>
          </a:ln>
        </p:spPr>
      </p:pic>
      <p:pic>
        <p:nvPicPr>
          <p:cNvPr id="2050" name="Picture 2" descr="undefined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1" y="1491070"/>
            <a:ext cx="3474288" cy="212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Kép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49373" y="1393564"/>
            <a:ext cx="4127167" cy="1942776"/>
          </a:xfrm>
          <a:prstGeom prst="rect">
            <a:avLst/>
          </a:prstGeom>
          <a:ln w="38100">
            <a:solidFill>
              <a:schemeClr val="accent1">
                <a:lumMod val="60000"/>
                <a:lumOff val="4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390332418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Programming</a:t>
            </a:r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 </a:t>
            </a:r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languages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100649" y="1856659"/>
            <a:ext cx="397348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C</a:t>
            </a:r>
            <a:r>
              <a:rPr lang="hu-HU" sz="2400" b="1" dirty="0" smtClean="0">
                <a:solidFill>
                  <a:schemeClr val="accent4">
                    <a:lumMod val="75000"/>
                  </a:schemeClr>
                </a:solidFill>
              </a:rPr>
              <a:t>#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Object-oriented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programming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language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 We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also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WPF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open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source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interface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framework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manage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database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of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our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project.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016" y="1157782"/>
            <a:ext cx="2853632" cy="2853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6090025"/>
      </p:ext>
    </p:extLst>
  </p:cSld>
  <p:clrMapOvr>
    <a:masterClrMapping/>
  </p:clrMapOvr>
  <p:transition spd="med">
    <p:pull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églalap 3"/>
          <p:cNvSpPr/>
          <p:nvPr/>
        </p:nvSpPr>
        <p:spPr>
          <a:xfrm>
            <a:off x="0" y="0"/>
            <a:ext cx="12192000" cy="8191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hu-HU">
              <a:solidFill>
                <a:schemeClr val="tx1"/>
              </a:solidFill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04" y="47687"/>
            <a:ext cx="745721" cy="723776"/>
          </a:xfrm>
          <a:prstGeom prst="rect">
            <a:avLst/>
          </a:prstGeom>
        </p:spPr>
      </p:pic>
      <p:sp>
        <p:nvSpPr>
          <p:cNvPr id="2" name="Szövegdoboz 1"/>
          <p:cNvSpPr txBox="1"/>
          <p:nvPr/>
        </p:nvSpPr>
        <p:spPr>
          <a:xfrm>
            <a:off x="2801383" y="24854"/>
            <a:ext cx="658923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400" b="1" dirty="0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Testing </a:t>
            </a:r>
            <a:r>
              <a:rPr lang="hu-HU" sz="4400" b="1" dirty="0" err="1" smtClean="0">
                <a:ln w="6350">
                  <a:solidFill>
                    <a:schemeClr val="accent1">
                      <a:lumMod val="75000"/>
                    </a:schemeClr>
                  </a:solidFill>
                </a:ln>
                <a:solidFill>
                  <a:schemeClr val="bg1"/>
                </a:solidFill>
                <a:latin typeface="Ink Free" panose="03080402000500000000" pitchFamily="66" charset="0"/>
              </a:rPr>
              <a:t>tools</a:t>
            </a:r>
            <a:endParaRPr lang="hu-HU" sz="4400" b="1" dirty="0">
              <a:ln w="6350">
                <a:solidFill>
                  <a:schemeClr val="accent1">
                    <a:lumMod val="75000"/>
                  </a:schemeClr>
                </a:solidFill>
              </a:ln>
              <a:solidFill>
                <a:schemeClr val="bg1"/>
              </a:solidFill>
              <a:latin typeface="Ink Free" panose="03080402000500000000" pitchFamily="66" charset="0"/>
            </a:endParaRPr>
          </a:p>
        </p:txBody>
      </p:sp>
      <p:sp>
        <p:nvSpPr>
          <p:cNvPr id="9" name="Szövegdoboz 8">
            <a:extLst>
              <a:ext uri="{FF2B5EF4-FFF2-40B4-BE49-F238E27FC236}">
                <a16:creationId xmlns:a16="http://schemas.microsoft.com/office/drawing/2014/main" id="{D84E1BB5-C09F-466B-8C1B-51040ABBF068}"/>
              </a:ext>
            </a:extLst>
          </p:cNvPr>
          <p:cNvSpPr txBox="1"/>
          <p:nvPr/>
        </p:nvSpPr>
        <p:spPr>
          <a:xfrm>
            <a:off x="3349652" y="1199955"/>
            <a:ext cx="44142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Postman</a:t>
            </a:r>
            <a:r>
              <a:rPr lang="hu-HU" sz="2400" dirty="0">
                <a:solidFill>
                  <a:schemeClr val="accent4">
                    <a:lumMod val="75000"/>
                  </a:schemeClr>
                </a:solidFill>
              </a:rPr>
              <a:t>:</a:t>
            </a: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A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desktop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application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that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allowed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test REST API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endpoints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based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CRUD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operations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2" name="Szövegdoboz 11">
            <a:extLst>
              <a:ext uri="{FF2B5EF4-FFF2-40B4-BE49-F238E27FC236}">
                <a16:creationId xmlns:a16="http://schemas.microsoft.com/office/drawing/2014/main" id="{6817D205-F060-4773-96FB-315513351D94}"/>
              </a:ext>
            </a:extLst>
          </p:cNvPr>
          <p:cNvSpPr txBox="1"/>
          <p:nvPr/>
        </p:nvSpPr>
        <p:spPr>
          <a:xfrm>
            <a:off x="395837" y="3266901"/>
            <a:ext cx="545948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 err="1" smtClean="0">
                <a:solidFill>
                  <a:schemeClr val="accent4">
                    <a:lumMod val="75000"/>
                  </a:schemeClr>
                </a:solidFill>
              </a:rPr>
              <a:t>Manual</a:t>
            </a:r>
            <a:r>
              <a:rPr lang="hu-HU" sz="2400" b="1" dirty="0" smtClean="0">
                <a:solidFill>
                  <a:schemeClr val="accent4">
                    <a:lumMod val="75000"/>
                  </a:schemeClr>
                </a:solidFill>
              </a:rPr>
              <a:t> Test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: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Without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automated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tools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,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they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look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for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errors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and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deficiencies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in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system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by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taking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role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of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end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user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hu-HU" sz="2400" b="1" dirty="0">
                <a:solidFill>
                  <a:schemeClr val="accent4">
                    <a:lumMod val="75000"/>
                  </a:schemeClr>
                </a:solidFill>
              </a:rPr>
              <a:t>Unit </a:t>
            </a:r>
            <a:r>
              <a:rPr lang="hu-HU" sz="2400" b="1" dirty="0" smtClean="0">
                <a:solidFill>
                  <a:schemeClr val="accent4">
                    <a:lumMod val="75000"/>
                  </a:schemeClr>
                </a:solidFill>
              </a:rPr>
              <a:t>Test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: A unit test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that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checks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a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specific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unit of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the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 program (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e.g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., a </a:t>
            </a:r>
            <a:r>
              <a:rPr lang="hu-HU" sz="2400" dirty="0" err="1" smtClean="0">
                <a:solidFill>
                  <a:schemeClr val="accent4">
                    <a:lumMod val="75000"/>
                  </a:schemeClr>
                </a:solidFill>
              </a:rPr>
              <a:t>function</a:t>
            </a:r>
            <a:r>
              <a:rPr lang="hu-HU" sz="2400" dirty="0" smtClean="0">
                <a:solidFill>
                  <a:schemeClr val="accent4">
                    <a:lumMod val="75000"/>
                  </a:schemeClr>
                </a:solidFill>
              </a:rPr>
              <a:t>).</a:t>
            </a:r>
            <a:endParaRPr lang="hu-HU" sz="2400" dirty="0">
              <a:solidFill>
                <a:schemeClr val="accent4">
                  <a:lumMod val="75000"/>
                </a:schemeClr>
              </a:solidFill>
            </a:endParaRPr>
          </a:p>
        </p:txBody>
      </p:sp>
      <p:pic>
        <p:nvPicPr>
          <p:cNvPr id="4098" name="Picture 2" descr="https://upload.wikimedia.org/wikipedia/commons/c/c2/Postman_%28software%2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104" y="1497752"/>
            <a:ext cx="3209548" cy="974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REST Client | Postman API Platform [Free Download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8298" y="1059375"/>
            <a:ext cx="3859931" cy="2573287"/>
          </a:xfrm>
          <a:prstGeom prst="rect">
            <a:avLst/>
          </a:prstGeom>
          <a:noFill/>
          <a:ln w="38100">
            <a:solidFill>
              <a:schemeClr val="accent1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6295488"/>
      </p:ext>
    </p:extLst>
  </p:cSld>
  <p:clrMapOvr>
    <a:masterClrMapping/>
  </p:clrMapOvr>
  <p:transition spd="med">
    <p:pull/>
  </p:transition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>
            <a:lumMod val="60000"/>
            <a:lumOff val="40000"/>
          </a:schemeClr>
        </a:solidFill>
        <a:ln>
          <a:noFill/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334</Words>
  <Application>Microsoft Office PowerPoint</Application>
  <PresentationFormat>Szélesvásznú</PresentationFormat>
  <Paragraphs>30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Ink Free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Geforce</dc:creator>
  <cp:lastModifiedBy>Geforce</cp:lastModifiedBy>
  <cp:revision>98</cp:revision>
  <dcterms:created xsi:type="dcterms:W3CDTF">2026-01-18T17:12:36Z</dcterms:created>
  <dcterms:modified xsi:type="dcterms:W3CDTF">2026-01-24T18:40:37Z</dcterms:modified>
</cp:coreProperties>
</file>